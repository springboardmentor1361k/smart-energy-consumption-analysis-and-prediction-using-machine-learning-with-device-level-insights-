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961805" y="1901595"/>
            <a:ext cx="14364393" cy="646192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2171702" y="2117423"/>
            <a:ext cx="13944600" cy="605215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7703820" y="1901595"/>
            <a:ext cx="288036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7875270" y="1901596"/>
            <a:ext cx="2537460" cy="967943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2562" y="3136895"/>
            <a:ext cx="13602879" cy="38862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10800" b="0" kern="1200" cap="all" spc="-15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150" y="7023094"/>
            <a:ext cx="13606272" cy="685802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 spc="120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2400"/>
            </a:lvl2pPr>
            <a:lvl3pPr marL="1371600" indent="0" algn="ctr">
              <a:buNone/>
              <a:defRPr sz="24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7978140" y="2011883"/>
            <a:ext cx="2331720" cy="790820"/>
          </a:xfrm>
        </p:spPr>
        <p:txBody>
          <a:bodyPr/>
          <a:lstStyle>
            <a:lvl1pPr algn="ctr">
              <a:defRPr sz="195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2180844" y="7816590"/>
            <a:ext cx="8858250" cy="3429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2910379" y="7818120"/>
            <a:ext cx="3167822" cy="3429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59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55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961805" y="1901595"/>
            <a:ext cx="14364393" cy="646192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2171700" y="2117423"/>
            <a:ext cx="13944600" cy="605215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7703820" y="1901595"/>
            <a:ext cx="288036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7875270" y="1901596"/>
            <a:ext cx="2537460" cy="967943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435" y="3141464"/>
            <a:ext cx="13606272" cy="3881628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10800" kern="1200" cap="all" spc="-15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45436" y="7023093"/>
            <a:ext cx="13606272" cy="6858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effectLst/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2712" y="2016753"/>
            <a:ext cx="2331720" cy="795528"/>
          </a:xfrm>
        </p:spPr>
        <p:txBody>
          <a:bodyPr/>
          <a:lstStyle>
            <a:lvl1pPr algn="ctr">
              <a:defRPr lang="en-US" sz="195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0330" y="7816590"/>
            <a:ext cx="8860536" cy="3429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06756" y="7816590"/>
            <a:ext cx="3168396" cy="3429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17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0200" y="3154680"/>
            <a:ext cx="7132320" cy="562356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55480" y="3154680"/>
            <a:ext cx="7132320" cy="562356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24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4772" y="3111501"/>
            <a:ext cx="7132320" cy="96012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50" b="0">
                <a:solidFill>
                  <a:schemeClr val="tx2"/>
                </a:solidFill>
                <a:latin typeface="+mn-lt"/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4772" y="4133847"/>
            <a:ext cx="7132320" cy="480060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60052" y="3111501"/>
            <a:ext cx="7132320" cy="96012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50" b="0">
                <a:solidFill>
                  <a:schemeClr val="tx2"/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60052" y="4134872"/>
            <a:ext cx="7132320" cy="480060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5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60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47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68294" y="356616"/>
            <a:ext cx="12797028" cy="95737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3530579" y="356616"/>
            <a:ext cx="4389120" cy="95737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4600" y="911088"/>
            <a:ext cx="3646170" cy="2468880"/>
          </a:xfrm>
        </p:spPr>
        <p:txBody>
          <a:bodyPr anchor="b">
            <a:norm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2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914400"/>
            <a:ext cx="11658600" cy="800100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44600" y="3429000"/>
            <a:ext cx="3646170" cy="5257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210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5590516" y="9334503"/>
            <a:ext cx="2194560" cy="4114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3736319" y="562356"/>
            <a:ext cx="3977640" cy="9162288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1670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3530579" y="356616"/>
            <a:ext cx="4389120" cy="95737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4600" y="905256"/>
            <a:ext cx="3648456" cy="2468880"/>
          </a:xfrm>
        </p:spPr>
        <p:txBody>
          <a:bodyPr anchor="b">
            <a:noAutofit/>
          </a:bodyPr>
          <a:lstStyle>
            <a:lvl1pPr algn="l">
              <a:defRPr sz="42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2898" y="356616"/>
            <a:ext cx="12797028" cy="957376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44600" y="3429000"/>
            <a:ext cx="3648456" cy="525322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1200"/>
              </a:spcBef>
              <a:buNone/>
              <a:defRPr sz="210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1371600" rtl="0" eaLnBrk="1" latinLnBrk="0" hangingPunct="1">
              <a:defRPr lang="en-US" sz="15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595092" y="9340596"/>
            <a:ext cx="2194560" cy="4114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3736319" y="562356"/>
            <a:ext cx="3977640" cy="9162288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6600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11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487400" y="1143000"/>
            <a:ext cx="3543300" cy="7886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1143000"/>
            <a:ext cx="12115800" cy="7886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718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4049" y="2797187"/>
            <a:ext cx="8245475" cy="429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59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6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044" y="356616"/>
            <a:ext cx="17583912" cy="957376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963891"/>
            <a:ext cx="15087600" cy="20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3154680"/>
            <a:ext cx="15087600" cy="5897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9461508"/>
            <a:ext cx="4114800" cy="4114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4940" y="9461508"/>
            <a:ext cx="7818120" cy="4114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04820" y="9461508"/>
            <a:ext cx="2194560" cy="4114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61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lang="en-US" sz="72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274320" indent="-274320" algn="l" defTabSz="1371600" rtl="0" eaLnBrk="1" latinLnBrk="0" hangingPunct="1">
        <a:lnSpc>
          <a:spcPct val="100000"/>
        </a:lnSpc>
        <a:spcBef>
          <a:spcPts val="135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7432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-27432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27432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34290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850000" indent="-34290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300000" indent="-34290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750000" indent="-342900" algn="l" defTabSz="1371600" rtl="0" eaLnBrk="1" latinLnBrk="0" hangingPunct="1">
        <a:lnSpc>
          <a:spcPct val="100000"/>
        </a:lnSpc>
        <a:spcBef>
          <a:spcPts val="75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12700" marR="5080" algn="just">
              <a:lnSpc>
                <a:spcPts val="10500"/>
              </a:lnSpc>
              <a:spcBef>
                <a:spcPts val="2200"/>
              </a:spcBef>
            </a:pPr>
            <a:r>
              <a:rPr sz="10500" spc="130" dirty="0">
                <a:solidFill>
                  <a:schemeClr val="tx1"/>
                </a:solidFill>
              </a:rPr>
              <a:t>Smart</a:t>
            </a:r>
            <a:r>
              <a:rPr sz="10500" spc="100" dirty="0">
                <a:solidFill>
                  <a:schemeClr val="tx1"/>
                </a:solidFill>
              </a:rPr>
              <a:t> </a:t>
            </a:r>
            <a:r>
              <a:rPr sz="10500" spc="200" dirty="0">
                <a:solidFill>
                  <a:schemeClr val="tx1"/>
                </a:solidFill>
              </a:rPr>
              <a:t>Energy </a:t>
            </a:r>
            <a:r>
              <a:rPr sz="10500" spc="330" dirty="0">
                <a:solidFill>
                  <a:schemeClr val="tx1"/>
                </a:solidFill>
              </a:rPr>
              <a:t>Consumption </a:t>
            </a:r>
            <a:r>
              <a:rPr sz="10500" spc="260" dirty="0">
                <a:solidFill>
                  <a:schemeClr val="tx1"/>
                </a:solidFill>
              </a:rPr>
              <a:t>Analysis</a:t>
            </a:r>
            <a:endParaRPr sz="105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7560509"/>
            <a:ext cx="68897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0" dirty="0">
                <a:latin typeface="Trebuchet MS"/>
                <a:cs typeface="Trebuchet MS"/>
              </a:rPr>
              <a:t>PRESENTER</a:t>
            </a:r>
            <a:r>
              <a:rPr lang="en-IN" sz="3200" spc="50" dirty="0">
                <a:latin typeface="Trebuchet MS"/>
                <a:cs typeface="Trebuchet MS"/>
              </a:rPr>
              <a:t>: Rama Subrahmanyam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49" y="0"/>
            <a:ext cx="611504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4610100"/>
            <a:ext cx="9455150" cy="1963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NEED</a:t>
            </a:r>
            <a:r>
              <a:rPr sz="2400" b="1" spc="-140" dirty="0">
                <a:latin typeface="Trebuchet MS"/>
                <a:cs typeface="Trebuchet MS"/>
              </a:rPr>
              <a:t> </a:t>
            </a:r>
            <a:r>
              <a:rPr sz="2400" b="1" spc="-75" dirty="0">
                <a:latin typeface="Trebuchet MS"/>
                <a:cs typeface="Trebuchet MS"/>
              </a:rPr>
              <a:t>FOR</a:t>
            </a:r>
            <a:r>
              <a:rPr sz="2400" b="1" spc="-135" dirty="0">
                <a:latin typeface="Trebuchet MS"/>
                <a:cs typeface="Trebuchet MS"/>
              </a:rPr>
              <a:t> </a:t>
            </a:r>
            <a:r>
              <a:rPr sz="2400" b="1" spc="50" dirty="0">
                <a:latin typeface="Trebuchet MS"/>
                <a:cs typeface="Trebuchet MS"/>
              </a:rPr>
              <a:t>OPTIMIZATION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b="1" dirty="0">
                <a:latin typeface="Trebuchet MS"/>
                <a:cs typeface="Trebuchet MS"/>
              </a:rPr>
              <a:t>The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increasing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demand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for</a:t>
            </a:r>
            <a:r>
              <a:rPr sz="2100" b="1" spc="-45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energy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is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leading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to</a:t>
            </a:r>
            <a:r>
              <a:rPr sz="2100" b="1" spc="-45" dirty="0">
                <a:latin typeface="Trebuchet MS"/>
                <a:cs typeface="Trebuchet MS"/>
              </a:rPr>
              <a:t> </a:t>
            </a:r>
            <a:r>
              <a:rPr sz="2100" b="1" spc="-40" dirty="0">
                <a:latin typeface="Trebuchet MS"/>
                <a:cs typeface="Trebuchet MS"/>
              </a:rPr>
              <a:t>inefficiencies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and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necessitating </a:t>
            </a:r>
            <a:r>
              <a:rPr sz="2100" b="1" dirty="0">
                <a:latin typeface="Trebuchet MS"/>
                <a:cs typeface="Trebuchet MS"/>
              </a:rPr>
              <a:t>advanced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methods</a:t>
            </a:r>
            <a:r>
              <a:rPr sz="2100" b="1" spc="-45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for</a:t>
            </a:r>
            <a:r>
              <a:rPr sz="2100" b="1" spc="-45" dirty="0">
                <a:latin typeface="Trebuchet MS"/>
                <a:cs typeface="Trebuchet MS"/>
              </a:rPr>
              <a:t> </a:t>
            </a:r>
            <a:r>
              <a:rPr sz="2100" b="1" spc="-30" dirty="0">
                <a:latin typeface="Trebuchet MS"/>
                <a:cs typeface="Trebuchet MS"/>
              </a:rPr>
              <a:t>optimizing</a:t>
            </a:r>
            <a:r>
              <a:rPr sz="2100" b="1" spc="-11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consumption</a:t>
            </a:r>
            <a:r>
              <a:rPr sz="2100" b="1" spc="-45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and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forecasting</a:t>
            </a:r>
            <a:r>
              <a:rPr sz="2100" b="1" spc="-45" dirty="0">
                <a:latin typeface="Trebuchet MS"/>
                <a:cs typeface="Trebuchet MS"/>
              </a:rPr>
              <a:t> future </a:t>
            </a:r>
            <a:r>
              <a:rPr sz="2100" b="1" spc="-10" dirty="0">
                <a:latin typeface="Trebuchet MS"/>
                <a:cs typeface="Trebuchet MS"/>
              </a:rPr>
              <a:t>needs.</a:t>
            </a:r>
            <a:endParaRPr sz="2100" b="1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54049" y="1472776"/>
            <a:ext cx="8575675" cy="214820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0"/>
              </a:spcBef>
            </a:pPr>
            <a:r>
              <a:rPr spc="325" dirty="0"/>
              <a:t>Key</a:t>
            </a:r>
            <a:r>
              <a:rPr spc="75" dirty="0"/>
              <a:t> </a:t>
            </a:r>
            <a:r>
              <a:rPr spc="160" dirty="0"/>
              <a:t>Challenges</a:t>
            </a:r>
            <a:r>
              <a:rPr spc="80" dirty="0"/>
              <a:t> </a:t>
            </a:r>
            <a:r>
              <a:rPr spc="85" dirty="0"/>
              <a:t>in </a:t>
            </a:r>
            <a:r>
              <a:rPr spc="135" dirty="0"/>
              <a:t>Energy</a:t>
            </a:r>
            <a:r>
              <a:rPr spc="75" dirty="0"/>
              <a:t> </a:t>
            </a:r>
            <a:r>
              <a:rPr spc="200" dirty="0"/>
              <a:t>Consumption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19400" y="1573909"/>
            <a:ext cx="1332584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>
                <a:solidFill>
                  <a:schemeClr val="tx1"/>
                </a:solidFill>
              </a:rPr>
              <a:t>Proposed</a:t>
            </a:r>
            <a:r>
              <a:rPr spc="85" dirty="0">
                <a:solidFill>
                  <a:schemeClr val="tx1"/>
                </a:solidFill>
              </a:rPr>
              <a:t> </a:t>
            </a:r>
            <a:r>
              <a:rPr spc="170" dirty="0">
                <a:solidFill>
                  <a:schemeClr val="tx1"/>
                </a:solidFill>
              </a:rPr>
              <a:t>Solution</a:t>
            </a:r>
            <a:r>
              <a:rPr spc="90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80468" y="5119369"/>
            <a:ext cx="182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2E20"/>
                </a:solidFill>
                <a:latin typeface="Tahoma"/>
                <a:cs typeface="Tahoma"/>
              </a:rPr>
              <a:t>LSTM</a:t>
            </a:r>
            <a:r>
              <a:rPr sz="2400" spc="-5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MODEL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570" y="5970101"/>
            <a:ext cx="494284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system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utilizes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65" dirty="0">
                <a:latin typeface="Trebuchet MS"/>
                <a:cs typeface="Trebuchet MS"/>
              </a:rPr>
              <a:t>LSTM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for </a:t>
            </a:r>
            <a:r>
              <a:rPr sz="2100" spc="-10" dirty="0">
                <a:latin typeface="Trebuchet MS"/>
                <a:cs typeface="Trebuchet MS"/>
              </a:rPr>
              <a:t>accurate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predictions,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effectively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handling sequential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data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capturing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temporal </a:t>
            </a:r>
            <a:r>
              <a:rPr sz="2100" dirty="0">
                <a:latin typeface="Trebuchet MS"/>
                <a:cs typeface="Trebuchet MS"/>
              </a:rPr>
              <a:t>dependencies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energy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consumption.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5402" y="5119369"/>
            <a:ext cx="2477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2E20"/>
                </a:solidFill>
                <a:latin typeface="Tahoma"/>
                <a:cs typeface="Tahoma"/>
              </a:rPr>
              <a:t>WEB</a:t>
            </a:r>
            <a:r>
              <a:rPr sz="2400" spc="-14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DASHBOARD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1274" y="5970101"/>
            <a:ext cx="542544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00"/>
              </a:lnSpc>
              <a:spcBef>
                <a:spcPts val="100"/>
              </a:spcBef>
            </a:pPr>
            <a:r>
              <a:rPr sz="2100" spc="70" dirty="0">
                <a:latin typeface="Trebuchet MS"/>
                <a:cs typeface="Trebuchet MS"/>
              </a:rPr>
              <a:t>A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user-</a:t>
            </a:r>
            <a:r>
              <a:rPr sz="2100" spc="-30" dirty="0">
                <a:latin typeface="Trebuchet MS"/>
                <a:cs typeface="Trebuchet MS"/>
              </a:rPr>
              <a:t>friendly </a:t>
            </a:r>
            <a:r>
              <a:rPr sz="2100" spc="-10" dirty="0">
                <a:latin typeface="Trebuchet MS"/>
                <a:cs typeface="Trebuchet MS"/>
              </a:rPr>
              <a:t>web </a:t>
            </a:r>
            <a:r>
              <a:rPr sz="2100" dirty="0">
                <a:latin typeface="Trebuchet MS"/>
                <a:cs typeface="Trebuchet MS"/>
              </a:rPr>
              <a:t>dashboard provides </a:t>
            </a:r>
            <a:r>
              <a:rPr sz="2100" spc="-10" dirty="0">
                <a:latin typeface="Trebuchet MS"/>
                <a:cs typeface="Trebuchet MS"/>
              </a:rPr>
              <a:t>real-</a:t>
            </a:r>
            <a:r>
              <a:rPr sz="2100" spc="-50" dirty="0">
                <a:latin typeface="Trebuchet MS"/>
                <a:cs typeface="Trebuchet MS"/>
              </a:rPr>
              <a:t>time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predictions,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enabling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users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to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visualize </a:t>
            </a:r>
            <a:r>
              <a:rPr sz="2100" dirty="0">
                <a:latin typeface="Trebuchet MS"/>
                <a:cs typeface="Trebuchet MS"/>
              </a:rPr>
              <a:t>energy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consumption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trends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make </a:t>
            </a:r>
            <a:r>
              <a:rPr sz="2100" spc="-10" dirty="0">
                <a:latin typeface="Trebuchet MS"/>
                <a:cs typeface="Trebuchet MS"/>
              </a:rPr>
              <a:t>informed</a:t>
            </a:r>
            <a:r>
              <a:rPr sz="2100" dirty="0">
                <a:latin typeface="Trebuchet MS"/>
                <a:cs typeface="Trebuchet MS"/>
              </a:rPr>
              <a:t> decisions </a:t>
            </a:r>
            <a:r>
              <a:rPr sz="2100" spc="-10" dirty="0">
                <a:latin typeface="Trebuchet MS"/>
                <a:cs typeface="Trebuchet MS"/>
              </a:rPr>
              <a:t>effortlessly.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72379" y="5119369"/>
            <a:ext cx="4249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2E20"/>
                </a:solidFill>
                <a:latin typeface="Tahoma"/>
                <a:cs typeface="Tahoma"/>
              </a:rPr>
              <a:t>INTERACTIVE</a:t>
            </a:r>
            <a:r>
              <a:rPr sz="2400" spc="12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VISUALIZATION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06580" y="5970101"/>
            <a:ext cx="518096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00"/>
              </a:lnSpc>
              <a:spcBef>
                <a:spcPts val="100"/>
              </a:spcBef>
            </a:pPr>
            <a:r>
              <a:rPr sz="2100" spc="-10" dirty="0">
                <a:latin typeface="Trebuchet MS"/>
                <a:cs typeface="Trebuchet MS"/>
              </a:rPr>
              <a:t>Interactive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visualizations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enhance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user </a:t>
            </a:r>
            <a:r>
              <a:rPr sz="2100" dirty="0">
                <a:latin typeface="Trebuchet MS"/>
                <a:cs typeface="Trebuchet MS"/>
              </a:rPr>
              <a:t>engagement,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allowing</a:t>
            </a:r>
            <a:r>
              <a:rPr sz="2100" spc="-1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12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dynamic </a:t>
            </a:r>
            <a:r>
              <a:rPr sz="2100" spc="-20" dirty="0">
                <a:latin typeface="Trebuchet MS"/>
                <a:cs typeface="Trebuchet MS"/>
              </a:rPr>
              <a:t>exploration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energy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data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facilitating deeper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insights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into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consumption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patterns.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5119484"/>
            <a:ext cx="9420225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COMPONENTS</a:t>
            </a:r>
            <a:r>
              <a:rPr sz="2400" b="1" spc="4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AND</a:t>
            </a:r>
            <a:r>
              <a:rPr sz="2400" b="1" spc="4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FRAMEWORKS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system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leverages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robust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technology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stack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including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Python,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TensorFlow, Flask,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Chart.js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seamless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energy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prediction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visualization.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0550" y="952500"/>
            <a:ext cx="11582400" cy="216661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5"/>
              </a:spcBef>
            </a:pPr>
            <a:r>
              <a:rPr spc="-880" dirty="0"/>
              <a:t>T</a:t>
            </a:r>
            <a:r>
              <a:rPr spc="155" dirty="0"/>
              <a:t>e</a:t>
            </a:r>
            <a:r>
              <a:rPr spc="160" dirty="0"/>
              <a:t>c</a:t>
            </a:r>
            <a:r>
              <a:rPr spc="155" dirty="0"/>
              <a:t>hn</a:t>
            </a:r>
            <a:r>
              <a:rPr spc="165" dirty="0"/>
              <a:t>o</a:t>
            </a:r>
            <a:r>
              <a:rPr spc="140" dirty="0"/>
              <a:t>l</a:t>
            </a:r>
            <a:r>
              <a:rPr spc="165" dirty="0"/>
              <a:t>o</a:t>
            </a:r>
            <a:r>
              <a:rPr spc="170" dirty="0"/>
              <a:t>g</a:t>
            </a:r>
            <a:r>
              <a:rPr spc="295" dirty="0"/>
              <a:t>y</a:t>
            </a:r>
            <a:r>
              <a:rPr spc="60" dirty="0"/>
              <a:t> </a:t>
            </a:r>
            <a:r>
              <a:rPr spc="170" dirty="0"/>
              <a:t>Stack</a:t>
            </a:r>
            <a:r>
              <a:rPr spc="50" dirty="0"/>
              <a:t> </a:t>
            </a:r>
            <a:r>
              <a:rPr spc="-25" dirty="0"/>
              <a:t>for </a:t>
            </a:r>
            <a:r>
              <a:rPr spc="135" dirty="0"/>
              <a:t>Energy</a:t>
            </a:r>
            <a:r>
              <a:rPr spc="75" dirty="0"/>
              <a:t> </a:t>
            </a:r>
            <a:r>
              <a:rPr spc="60" dirty="0"/>
              <a:t>Prediction </a:t>
            </a:r>
            <a:r>
              <a:rPr spc="165" dirty="0"/>
              <a:t>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76400" y="1592959"/>
            <a:ext cx="1471087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>
                <a:solidFill>
                  <a:schemeClr val="tx1"/>
                </a:solidFill>
              </a:rPr>
              <a:t>System</a:t>
            </a:r>
            <a:r>
              <a:rPr spc="30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Architecture</a:t>
            </a:r>
            <a:r>
              <a:rPr spc="305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76400" y="5119369"/>
            <a:ext cx="262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662E20"/>
                </a:solidFill>
                <a:latin typeface="Tahoma"/>
                <a:cs typeface="Tahoma"/>
              </a:rPr>
              <a:t>DATA</a:t>
            </a:r>
            <a:r>
              <a:rPr sz="2400" spc="-16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COLLECTION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091" y="5970101"/>
            <a:ext cx="545782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initial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phase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involves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importing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raw </a:t>
            </a:r>
            <a:r>
              <a:rPr sz="2100" dirty="0">
                <a:latin typeface="Trebuchet MS"/>
                <a:cs typeface="Trebuchet MS"/>
              </a:rPr>
              <a:t>datasets,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followed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by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comprehensive</a:t>
            </a:r>
            <a:r>
              <a:rPr sz="2100" spc="5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cleaning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to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ensure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data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quality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relevance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analysis.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2885" y="5119369"/>
            <a:ext cx="3222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662E20"/>
                </a:solidFill>
                <a:latin typeface="Tahoma"/>
                <a:cs typeface="Tahoma"/>
              </a:rPr>
              <a:t>DATA</a:t>
            </a:r>
            <a:r>
              <a:rPr sz="2400" spc="-16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PREPROCESSING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7736" y="5970101"/>
            <a:ext cx="519239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00"/>
              </a:lnSpc>
              <a:spcBef>
                <a:spcPts val="100"/>
              </a:spcBef>
            </a:pPr>
            <a:r>
              <a:rPr sz="2100" spc="110" dirty="0">
                <a:latin typeface="Trebuchet MS"/>
                <a:cs typeface="Trebuchet MS"/>
              </a:rPr>
              <a:t>In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this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stage,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data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normalization,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sequence </a:t>
            </a:r>
            <a:r>
              <a:rPr sz="2100" spc="-20" dirty="0">
                <a:latin typeface="Trebuchet MS"/>
                <a:cs typeface="Trebuchet MS"/>
              </a:rPr>
              <a:t>generation,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train-test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splitting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dirty="0">
                <a:latin typeface="Trebuchet MS"/>
                <a:cs typeface="Trebuchet MS"/>
              </a:rPr>
              <a:t>performed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to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prepare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data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model </a:t>
            </a:r>
            <a:r>
              <a:rPr sz="2100" dirty="0">
                <a:latin typeface="Trebuchet MS"/>
                <a:cs typeface="Trebuchet MS"/>
              </a:rPr>
              <a:t>training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process.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35694" y="5119369"/>
            <a:ext cx="3122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662E20"/>
                </a:solidFill>
                <a:latin typeface="Tahoma"/>
                <a:cs typeface="Tahoma"/>
              </a:rPr>
              <a:t>MODEL</a:t>
            </a:r>
            <a:r>
              <a:rPr sz="2400" spc="-145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DEVELOPMENT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68003" y="5970101"/>
            <a:ext cx="545846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development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focuses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on </a:t>
            </a:r>
            <a:r>
              <a:rPr sz="2100" dirty="0">
                <a:latin typeface="Trebuchet MS"/>
                <a:cs typeface="Trebuchet MS"/>
              </a:rPr>
              <a:t>constructing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65" dirty="0">
                <a:latin typeface="Trebuchet MS"/>
                <a:cs typeface="Trebuchet MS"/>
              </a:rPr>
              <a:t>LSTM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layers,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optimizing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dirty="0">
                <a:latin typeface="Trebuchet MS"/>
                <a:cs typeface="Trebuchet MS"/>
              </a:rPr>
              <a:t>dense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output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110" dirty="0">
                <a:latin typeface="Trebuchet MS"/>
                <a:cs typeface="Trebuchet MS"/>
              </a:rPr>
              <a:t>layer,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minimizing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65" dirty="0">
                <a:latin typeface="Trebuchet MS"/>
                <a:cs typeface="Trebuchet MS"/>
              </a:rPr>
              <a:t>loss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using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Mean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Squared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Error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function.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95600" y="1438865"/>
            <a:ext cx="1339828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9" dirty="0">
                <a:solidFill>
                  <a:schemeClr val="tx1"/>
                </a:solidFill>
              </a:rPr>
              <a:t>Model</a:t>
            </a:r>
            <a:r>
              <a:rPr spc="65" dirty="0">
                <a:solidFill>
                  <a:schemeClr val="tx1"/>
                </a:solidFill>
              </a:rPr>
              <a:t> </a:t>
            </a:r>
            <a:r>
              <a:rPr spc="114" dirty="0">
                <a:solidFill>
                  <a:schemeClr val="tx1"/>
                </a:solidFill>
              </a:rPr>
              <a:t>Development</a:t>
            </a:r>
            <a:r>
              <a:rPr spc="70" dirty="0">
                <a:solidFill>
                  <a:schemeClr val="tx1"/>
                </a:solidFill>
              </a:rPr>
              <a:t> </a:t>
            </a:r>
            <a:r>
              <a:rPr spc="105" dirty="0">
                <a:solidFill>
                  <a:schemeClr val="tx1"/>
                </a:solidFill>
              </a:rPr>
              <a:t>Details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11548" y="5119369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solidFill>
                  <a:srgbClr val="662E20"/>
                </a:solidFill>
                <a:latin typeface="Tahoma"/>
                <a:cs typeface="Tahoma"/>
              </a:rPr>
              <a:t>INPUT</a:t>
            </a:r>
            <a:r>
              <a:rPr sz="2400" spc="-12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FORMAT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996" y="5970101"/>
            <a:ext cx="505396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utilizes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7-day</a:t>
            </a:r>
            <a:r>
              <a:rPr sz="2100" b="1" spc="-125" dirty="0">
                <a:latin typeface="Trebuchet MS"/>
                <a:cs typeface="Trebuchet MS"/>
              </a:rPr>
              <a:t> </a:t>
            </a:r>
            <a:r>
              <a:rPr sz="2100" b="1" spc="-50" dirty="0">
                <a:latin typeface="Trebuchet MS"/>
                <a:cs typeface="Trebuchet MS"/>
              </a:rPr>
              <a:t>weekly</a:t>
            </a:r>
            <a:r>
              <a:rPr sz="2100" b="1" spc="-125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energy </a:t>
            </a:r>
            <a:r>
              <a:rPr sz="2100" b="1" dirty="0">
                <a:latin typeface="Trebuchet MS"/>
                <a:cs typeface="Trebuchet MS"/>
              </a:rPr>
              <a:t>sequences</a:t>
            </a:r>
            <a:r>
              <a:rPr sz="2100" b="1" spc="-70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as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input,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allowing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it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to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capture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analyze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consumption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patterns effectively.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58423" y="5119369"/>
            <a:ext cx="1771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662E20"/>
                </a:solidFill>
                <a:latin typeface="Tahoma"/>
                <a:cs typeface="Tahoma"/>
              </a:rPr>
              <a:t>MODEL</a:t>
            </a:r>
            <a:r>
              <a:rPr sz="2400" spc="-145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62E20"/>
                </a:solidFill>
                <a:latin typeface="Tahoma"/>
                <a:cs typeface="Tahoma"/>
              </a:rPr>
              <a:t>TYPE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7149" y="5970101"/>
            <a:ext cx="547433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This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system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employs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LSTM</a:t>
            </a:r>
            <a:r>
              <a:rPr sz="2100" b="1" spc="-25" dirty="0">
                <a:latin typeface="Trebuchet MS"/>
                <a:cs typeface="Trebuchet MS"/>
              </a:rPr>
              <a:t> </a:t>
            </a:r>
            <a:r>
              <a:rPr sz="2100" b="1" dirty="0">
                <a:latin typeface="Trebuchet MS"/>
                <a:cs typeface="Trebuchet MS"/>
              </a:rPr>
              <a:t>(Long</a:t>
            </a:r>
            <a:r>
              <a:rPr sz="2100" b="1" spc="-20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Short-</a:t>
            </a:r>
            <a:r>
              <a:rPr sz="2100" b="1" spc="-25" dirty="0">
                <a:latin typeface="Trebuchet MS"/>
                <a:cs typeface="Trebuchet MS"/>
              </a:rPr>
              <a:t>Term </a:t>
            </a:r>
            <a:r>
              <a:rPr sz="2100" b="1" dirty="0">
                <a:latin typeface="Trebuchet MS"/>
                <a:cs typeface="Trebuchet MS"/>
              </a:rPr>
              <a:t>Memory)</a:t>
            </a:r>
            <a:r>
              <a:rPr sz="2100" b="1" spc="-9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networks,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optimized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learning from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sequential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data,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enhancing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prediction </a:t>
            </a:r>
            <a:r>
              <a:rPr sz="2100" dirty="0">
                <a:latin typeface="Trebuchet MS"/>
                <a:cs typeface="Trebuchet MS"/>
              </a:rPr>
              <a:t>accuracy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over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time.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39167" y="5119369"/>
            <a:ext cx="2315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2E20"/>
                </a:solidFill>
                <a:latin typeface="Tahoma"/>
                <a:cs typeface="Tahoma"/>
              </a:rPr>
              <a:t>LOSS</a:t>
            </a:r>
            <a:r>
              <a:rPr sz="2400" spc="-7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FUNCTION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68578" y="5970101"/>
            <a:ext cx="54571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Mean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Squared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Error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95" dirty="0">
                <a:latin typeface="Trebuchet MS"/>
                <a:cs typeface="Trebuchet MS"/>
              </a:rPr>
              <a:t>(MSE)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used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as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b="1" spc="55" dirty="0">
                <a:latin typeface="Trebuchet MS"/>
                <a:cs typeface="Trebuchet MS"/>
              </a:rPr>
              <a:t>loss</a:t>
            </a:r>
            <a:r>
              <a:rPr sz="2100" b="1" spc="-125" dirty="0">
                <a:latin typeface="Trebuchet MS"/>
                <a:cs typeface="Trebuchet MS"/>
              </a:rPr>
              <a:t> </a:t>
            </a:r>
            <a:r>
              <a:rPr sz="2100" b="1" spc="-50" dirty="0">
                <a:latin typeface="Trebuchet MS"/>
                <a:cs typeface="Trebuchet MS"/>
              </a:rPr>
              <a:t>function</a:t>
            </a:r>
            <a:r>
              <a:rPr sz="2100" spc="-50" dirty="0">
                <a:latin typeface="Trebuchet MS"/>
                <a:cs typeface="Trebuchet MS"/>
              </a:rPr>
              <a:t>,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facilitating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effective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training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by </a:t>
            </a:r>
            <a:r>
              <a:rPr sz="2100" dirty="0">
                <a:latin typeface="Trebuchet MS"/>
                <a:cs typeface="Trebuchet MS"/>
              </a:rPr>
              <a:t>measuring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prediction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accuracy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during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model development.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5119484"/>
            <a:ext cx="9484995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70" dirty="0">
                <a:solidFill>
                  <a:srgbClr val="F4F4F4"/>
                </a:solidFill>
                <a:latin typeface="Trebuchet MS"/>
                <a:cs typeface="Trebuchet MS"/>
              </a:rPr>
              <a:t>USER</a:t>
            </a:r>
            <a:r>
              <a:rPr sz="2400" b="1" spc="-7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4F4F4"/>
                </a:solidFill>
                <a:latin typeface="Trebuchet MS"/>
                <a:cs typeface="Trebuchet MS"/>
              </a:rPr>
              <a:t>INTERFACE</a:t>
            </a:r>
            <a:r>
              <a:rPr sz="2400" b="1" spc="-6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4F4F4"/>
                </a:solidFill>
                <a:latin typeface="Trebuchet MS"/>
                <a:cs typeface="Trebuchet MS"/>
              </a:rPr>
              <a:t>AND</a:t>
            </a:r>
            <a:r>
              <a:rPr sz="2400" b="1" spc="-6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4F4F4"/>
                </a:solidFill>
                <a:latin typeface="Trebuchet MS"/>
                <a:cs typeface="Trebuchet MS"/>
              </a:rPr>
              <a:t>OUTPUTS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The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dashboard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allows</a:t>
            </a:r>
            <a:r>
              <a:rPr sz="2100" spc="-5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F4F4F4"/>
                </a:solidFill>
                <a:latin typeface="Trebuchet MS"/>
                <a:cs typeface="Trebuchet MS"/>
              </a:rPr>
              <a:t>users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to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4F4F4"/>
                </a:solidFill>
                <a:latin typeface="Trebuchet MS"/>
                <a:cs typeface="Trebuchet MS"/>
              </a:rPr>
              <a:t>input</a:t>
            </a:r>
            <a:r>
              <a:rPr sz="2100" spc="-5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F4F4F4"/>
                </a:solidFill>
                <a:latin typeface="Trebuchet MS"/>
                <a:cs typeface="Trebuchet MS"/>
              </a:rPr>
              <a:t>their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energy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values</a:t>
            </a:r>
            <a:r>
              <a:rPr sz="2100" spc="-5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-50" dirty="0">
                <a:solidFill>
                  <a:srgbClr val="F4F4F4"/>
                </a:solidFill>
                <a:latin typeface="Trebuchet MS"/>
                <a:cs typeface="Trebuchet MS"/>
              </a:rPr>
              <a:t>while</a:t>
            </a:r>
            <a:r>
              <a:rPr sz="2100" spc="-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4F4F4"/>
                </a:solidFill>
                <a:latin typeface="Trebuchet MS"/>
                <a:cs typeface="Trebuchet MS"/>
              </a:rPr>
              <a:t>displaying </a:t>
            </a:r>
            <a:r>
              <a:rPr sz="2100" spc="-30" dirty="0">
                <a:solidFill>
                  <a:srgbClr val="F4F4F4"/>
                </a:solidFill>
                <a:latin typeface="Trebuchet MS"/>
                <a:cs typeface="Trebuchet MS"/>
              </a:rPr>
              <a:t>predicted</a:t>
            </a:r>
            <a:r>
              <a:rPr sz="2100" spc="1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F4F4F4"/>
                </a:solidFill>
                <a:latin typeface="Trebuchet MS"/>
                <a:cs typeface="Trebuchet MS"/>
              </a:rPr>
              <a:t>next-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day</a:t>
            </a:r>
            <a:r>
              <a:rPr sz="2100" spc="2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consumption</a:t>
            </a:r>
            <a:r>
              <a:rPr sz="2100" spc="1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through</a:t>
            </a:r>
            <a:r>
              <a:rPr sz="2100" spc="2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b="1" spc="-55" dirty="0">
                <a:solidFill>
                  <a:srgbClr val="F4F4F4"/>
                </a:solidFill>
                <a:latin typeface="Trebuchet MS"/>
                <a:cs typeface="Trebuchet MS"/>
              </a:rPr>
              <a:t>interactive </a:t>
            </a:r>
            <a:r>
              <a:rPr sz="2100" b="1" spc="-20" dirty="0">
                <a:solidFill>
                  <a:srgbClr val="F4F4F4"/>
                </a:solidFill>
                <a:latin typeface="Trebuchet MS"/>
                <a:cs typeface="Trebuchet MS"/>
              </a:rPr>
              <a:t>visualizations</a:t>
            </a:r>
            <a:r>
              <a:rPr sz="2100" b="1" spc="2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4F4F4"/>
                </a:solidFill>
                <a:latin typeface="Trebuchet MS"/>
                <a:cs typeface="Trebuchet MS"/>
              </a:rPr>
              <a:t>and</a:t>
            </a:r>
            <a:r>
              <a:rPr sz="2100" spc="2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4F4F4"/>
                </a:solidFill>
                <a:latin typeface="Trebuchet MS"/>
                <a:cs typeface="Trebuchet MS"/>
              </a:rPr>
              <a:t>trends.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7200" y="1086615"/>
            <a:ext cx="12877800" cy="2093971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5"/>
              </a:spcBef>
            </a:pPr>
            <a:r>
              <a:rPr sz="6200" spc="200" dirty="0"/>
              <a:t>Weekly</a:t>
            </a:r>
            <a:r>
              <a:rPr sz="6200" spc="85" dirty="0"/>
              <a:t> </a:t>
            </a:r>
            <a:r>
              <a:rPr sz="6200" spc="125" dirty="0"/>
              <a:t>Energy </a:t>
            </a:r>
            <a:r>
              <a:rPr sz="6200" spc="200" dirty="0"/>
              <a:t>Consumption </a:t>
            </a:r>
            <a:r>
              <a:rPr sz="6200" spc="70" dirty="0"/>
              <a:t>Prediction </a:t>
            </a:r>
            <a:r>
              <a:rPr sz="6200" spc="185" dirty="0"/>
              <a:t>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0200" y="911527"/>
            <a:ext cx="15087600" cy="216212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259"/>
              </a:spcBef>
            </a:pPr>
            <a:r>
              <a:rPr spc="160" dirty="0">
                <a:solidFill>
                  <a:schemeClr val="tx1"/>
                </a:solidFill>
              </a:rPr>
              <a:t>Challenges</a:t>
            </a:r>
            <a:r>
              <a:rPr spc="100" dirty="0">
                <a:solidFill>
                  <a:schemeClr val="tx1"/>
                </a:solidFill>
              </a:rPr>
              <a:t> </a:t>
            </a:r>
            <a:r>
              <a:rPr spc="80" dirty="0">
                <a:solidFill>
                  <a:schemeClr val="tx1"/>
                </a:solidFill>
              </a:rPr>
              <a:t>and </a:t>
            </a:r>
            <a:r>
              <a:rPr spc="195" dirty="0">
                <a:solidFill>
                  <a:schemeClr val="tx1"/>
                </a:solidFill>
              </a:rPr>
              <a:t>Solutions</a:t>
            </a:r>
            <a:r>
              <a:rPr spc="80" dirty="0">
                <a:solidFill>
                  <a:schemeClr val="tx1"/>
                </a:solidFill>
              </a:rPr>
              <a:t> </a:t>
            </a:r>
            <a:r>
              <a:rPr spc="85" dirty="0">
                <a:solidFill>
                  <a:schemeClr val="tx1"/>
                </a:solidFill>
              </a:rPr>
              <a:t>in </a:t>
            </a:r>
            <a:r>
              <a:rPr spc="125" dirty="0">
                <a:solidFill>
                  <a:schemeClr val="tx1"/>
                </a:solidFill>
              </a:rPr>
              <a:t>Forecasting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8400" y="4697475"/>
            <a:ext cx="5454015" cy="251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662E20"/>
                </a:solidFill>
                <a:latin typeface="Tahoma"/>
                <a:cs typeface="Tahoma"/>
              </a:rPr>
              <a:t>DATA</a:t>
            </a:r>
            <a:r>
              <a:rPr sz="2400" spc="-160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62E20"/>
                </a:solidFill>
                <a:latin typeface="Tahoma"/>
                <a:cs typeface="Tahoma"/>
              </a:rPr>
              <a:t>HANDLING</a:t>
            </a:r>
            <a:endParaRPr sz="2400" dirty="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  <a:spcBef>
                <a:spcPts val="2250"/>
              </a:spcBef>
            </a:pPr>
            <a:r>
              <a:rPr sz="2100" dirty="0">
                <a:latin typeface="Trebuchet MS"/>
                <a:cs typeface="Trebuchet MS"/>
              </a:rPr>
              <a:t>Handling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sequential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data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significant </a:t>
            </a:r>
            <a:r>
              <a:rPr sz="2100" spc="-25" dirty="0">
                <a:latin typeface="Trebuchet MS"/>
                <a:cs typeface="Trebuchet MS"/>
              </a:rPr>
              <a:t>challenge.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65" dirty="0">
                <a:latin typeface="Trebuchet MS"/>
                <a:cs typeface="Trebuchet MS"/>
              </a:rPr>
              <a:t>LSTM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architecture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provides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an </a:t>
            </a:r>
            <a:r>
              <a:rPr sz="2100" spc="-75" dirty="0">
                <a:latin typeface="Trebuchet MS"/>
                <a:cs typeface="Trebuchet MS"/>
              </a:rPr>
              <a:t>effective </a:t>
            </a:r>
            <a:r>
              <a:rPr sz="2100" spc="-10" dirty="0">
                <a:latin typeface="Trebuchet MS"/>
                <a:cs typeface="Trebuchet MS"/>
              </a:rPr>
              <a:t>solution,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enabling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accurate </a:t>
            </a:r>
            <a:r>
              <a:rPr sz="2100" dirty="0">
                <a:latin typeface="Trebuchet MS"/>
                <a:cs typeface="Trebuchet MS"/>
              </a:rPr>
              <a:t>predictions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from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historical</a:t>
            </a:r>
            <a:r>
              <a:rPr sz="2100" spc="-12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energy </a:t>
            </a:r>
            <a:r>
              <a:rPr sz="2100" dirty="0">
                <a:latin typeface="Trebuchet MS"/>
                <a:cs typeface="Trebuchet MS"/>
              </a:rPr>
              <a:t>consumption</a:t>
            </a:r>
            <a:r>
              <a:rPr sz="2100" spc="13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data.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7400" y="4697475"/>
            <a:ext cx="5328285" cy="251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2E20"/>
                </a:solidFill>
                <a:latin typeface="Tahoma"/>
                <a:cs typeface="Tahoma"/>
              </a:rPr>
              <a:t>INTEGRATION</a:t>
            </a:r>
            <a:r>
              <a:rPr sz="2400" spc="-145" dirty="0">
                <a:solidFill>
                  <a:srgbClr val="662E2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62E20"/>
                </a:solidFill>
                <a:latin typeface="Tahoma"/>
                <a:cs typeface="Tahoma"/>
              </a:rPr>
              <a:t>ISSUES</a:t>
            </a:r>
            <a:endParaRPr sz="2400" dirty="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  <a:spcBef>
                <a:spcPts val="2250"/>
              </a:spcBef>
            </a:pPr>
            <a:r>
              <a:rPr sz="2100" dirty="0">
                <a:latin typeface="Trebuchet MS"/>
                <a:cs typeface="Trebuchet MS"/>
              </a:rPr>
              <a:t>Integrating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with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web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platform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complex.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Deploying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Flask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API </a:t>
            </a:r>
            <a:r>
              <a:rPr sz="2100" dirty="0">
                <a:latin typeface="Trebuchet MS"/>
                <a:cs typeface="Trebuchet MS"/>
              </a:rPr>
              <a:t>streamlines this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process, ensuring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seamless </a:t>
            </a:r>
            <a:r>
              <a:rPr sz="2100" dirty="0">
                <a:latin typeface="Trebuchet MS"/>
                <a:cs typeface="Trebuchet MS"/>
              </a:rPr>
              <a:t>communication</a:t>
            </a:r>
            <a:r>
              <a:rPr sz="2100" spc="-95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between</a:t>
            </a:r>
            <a:r>
              <a:rPr sz="2100" spc="-9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-9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</a:t>
            </a:r>
            <a:r>
              <a:rPr sz="2100" spc="-9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9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user </a:t>
            </a:r>
            <a:r>
              <a:rPr sz="2100" spc="-10" dirty="0">
                <a:latin typeface="Trebuchet MS"/>
                <a:cs typeface="Trebuchet MS"/>
              </a:rPr>
              <a:t>interface.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5617635"/>
            <a:ext cx="9733280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75" dirty="0">
                <a:latin typeface="Trebuchet MS"/>
                <a:cs typeface="Trebuchet MS"/>
              </a:rPr>
              <a:t>IMPACT</a:t>
            </a:r>
            <a:r>
              <a:rPr sz="2400" b="1" spc="-10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AND</a:t>
            </a:r>
            <a:r>
              <a:rPr sz="2400" b="1" spc="-100" dirty="0">
                <a:latin typeface="Trebuchet MS"/>
                <a:cs typeface="Trebuchet MS"/>
              </a:rPr>
              <a:t> </a:t>
            </a:r>
            <a:r>
              <a:rPr sz="2400" b="1" spc="40" dirty="0">
                <a:latin typeface="Trebuchet MS"/>
                <a:cs typeface="Trebuchet MS"/>
              </a:rPr>
              <a:t>BENEFITS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system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significantly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enhances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forecast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b="1" spc="-20" dirty="0">
                <a:latin typeface="Trebuchet MS"/>
                <a:cs typeface="Trebuchet MS"/>
              </a:rPr>
              <a:t>accuracy</a:t>
            </a:r>
            <a:r>
              <a:rPr sz="2100" spc="-20" dirty="0">
                <a:latin typeface="Trebuchet MS"/>
                <a:cs typeface="Trebuchet MS"/>
              </a:rPr>
              <a:t>,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enabling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better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energy </a:t>
            </a:r>
            <a:r>
              <a:rPr sz="2100" dirty="0">
                <a:latin typeface="Trebuchet MS"/>
                <a:cs typeface="Trebuchet MS"/>
              </a:rPr>
              <a:t>management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b="1" spc="-30" dirty="0">
                <a:latin typeface="Trebuchet MS"/>
                <a:cs typeface="Trebuchet MS"/>
              </a:rPr>
              <a:t>faster</a:t>
            </a:r>
            <a:r>
              <a:rPr sz="2100" b="1" spc="-50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decision-</a:t>
            </a:r>
            <a:r>
              <a:rPr sz="2100" b="1" dirty="0">
                <a:latin typeface="Trebuchet MS"/>
                <a:cs typeface="Trebuchet MS"/>
              </a:rPr>
              <a:t>making</a:t>
            </a:r>
            <a:r>
              <a:rPr sz="2100" b="1" spc="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sustainable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consumption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practices.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54049" y="1472776"/>
            <a:ext cx="9333865" cy="320421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5"/>
              </a:spcBef>
            </a:pPr>
            <a:r>
              <a:rPr spc="229" dirty="0"/>
              <a:t>Measurable</a:t>
            </a:r>
            <a:r>
              <a:rPr spc="80" dirty="0"/>
              <a:t> </a:t>
            </a:r>
            <a:r>
              <a:rPr spc="250" dirty="0"/>
              <a:t>Outcomes </a:t>
            </a:r>
            <a:r>
              <a:rPr spc="165" dirty="0"/>
              <a:t>of</a:t>
            </a:r>
            <a:r>
              <a:rPr dirty="0"/>
              <a:t> the</a:t>
            </a:r>
            <a:r>
              <a:rPr spc="5" dirty="0"/>
              <a:t> </a:t>
            </a:r>
            <a:r>
              <a:rPr spc="125" dirty="0"/>
              <a:t>Energy </a:t>
            </a:r>
            <a:r>
              <a:rPr spc="70" dirty="0"/>
              <a:t>Prediction </a:t>
            </a:r>
            <a:r>
              <a:rPr spc="165" dirty="0"/>
              <a:t>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5119484"/>
            <a:ext cx="9197975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PLANNED</a:t>
            </a:r>
            <a:r>
              <a:rPr sz="2400" b="1" spc="-125" dirty="0">
                <a:latin typeface="Trebuchet MS"/>
                <a:cs typeface="Trebuchet MS"/>
              </a:rPr>
              <a:t> </a:t>
            </a:r>
            <a:r>
              <a:rPr sz="2400" b="1" spc="55" dirty="0">
                <a:latin typeface="Trebuchet MS"/>
                <a:cs typeface="Trebuchet MS"/>
              </a:rPr>
              <a:t>IMPROVEMENTS</a:t>
            </a:r>
            <a:r>
              <a:rPr sz="2400" b="1" spc="-12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AHEAD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spc="-30" dirty="0">
                <a:latin typeface="Trebuchet MS"/>
                <a:cs typeface="Trebuchet MS"/>
              </a:rPr>
              <a:t>We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aim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to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integrate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b="1" spc="114" dirty="0">
                <a:latin typeface="Trebuchet MS"/>
                <a:cs typeface="Trebuchet MS"/>
              </a:rPr>
              <a:t>AI-</a:t>
            </a:r>
            <a:r>
              <a:rPr sz="2100" b="1" dirty="0">
                <a:latin typeface="Trebuchet MS"/>
                <a:cs typeface="Trebuchet MS"/>
              </a:rPr>
              <a:t>based</a:t>
            </a:r>
            <a:r>
              <a:rPr sz="2100" b="1" spc="-110" dirty="0">
                <a:latin typeface="Trebuchet MS"/>
                <a:cs typeface="Trebuchet MS"/>
              </a:rPr>
              <a:t> </a:t>
            </a:r>
            <a:r>
              <a:rPr sz="2100" b="1" spc="-40" dirty="0">
                <a:latin typeface="Trebuchet MS"/>
                <a:cs typeface="Trebuchet MS"/>
              </a:rPr>
              <a:t>optimization</a:t>
            </a:r>
            <a:r>
              <a:rPr sz="2100" b="1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enhance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dashboard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50" dirty="0">
                <a:latin typeface="Trebuchet MS"/>
                <a:cs typeface="Trebuchet MS"/>
              </a:rPr>
              <a:t> a </a:t>
            </a:r>
            <a:r>
              <a:rPr sz="2100" dirty="0">
                <a:latin typeface="Trebuchet MS"/>
                <a:cs typeface="Trebuchet MS"/>
              </a:rPr>
              <a:t>more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comprehensive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analysis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energy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consumption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trends.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7200" y="909282"/>
            <a:ext cx="11506200" cy="216661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8310"/>
              </a:lnSpc>
              <a:spcBef>
                <a:spcPts val="295"/>
              </a:spcBef>
            </a:pPr>
            <a:r>
              <a:rPr dirty="0"/>
              <a:t>Future</a:t>
            </a:r>
            <a:r>
              <a:rPr spc="275" dirty="0"/>
              <a:t> </a:t>
            </a:r>
            <a:r>
              <a:rPr spc="70" dirty="0"/>
              <a:t>Enhancements </a:t>
            </a:r>
            <a:r>
              <a:rPr dirty="0"/>
              <a:t>for</a:t>
            </a:r>
            <a:r>
              <a:rPr spc="130" dirty="0"/>
              <a:t> </a:t>
            </a:r>
            <a:r>
              <a:rPr spc="135" dirty="0"/>
              <a:t>Energy </a:t>
            </a:r>
            <a:r>
              <a:rPr spc="60" dirty="0"/>
              <a:t>Prediction </a:t>
            </a:r>
            <a:r>
              <a:rPr spc="165" dirty="0"/>
              <a:t>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Thank</a:t>
            </a:r>
            <a:r>
              <a:rPr spc="65" dirty="0"/>
              <a:t> </a:t>
            </a:r>
            <a:r>
              <a:rPr spc="140" dirty="0"/>
              <a:t>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13</TotalTime>
  <Words>453</Words>
  <Application>Microsoft Office PowerPoint</Application>
  <PresentationFormat>Custom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Century Gothic</vt:lpstr>
      <vt:lpstr>Garamond</vt:lpstr>
      <vt:lpstr>Tahoma</vt:lpstr>
      <vt:lpstr>Trebuchet MS</vt:lpstr>
      <vt:lpstr>Savon</vt:lpstr>
      <vt:lpstr>Smart Energy Consumption Analysis</vt:lpstr>
      <vt:lpstr>Key Challenges in Energy Consumption</vt:lpstr>
      <vt:lpstr>Proposed Solution Overview</vt:lpstr>
      <vt:lpstr>Technology Stack for Energy Prediction System</vt:lpstr>
      <vt:lpstr>System Architecture Overview</vt:lpstr>
      <vt:lpstr>Model Development Details</vt:lpstr>
      <vt:lpstr>Weekly Energy Consumption Prediction Dashboard</vt:lpstr>
      <vt:lpstr>Challenges and Solutions in Forecasting</vt:lpstr>
      <vt:lpstr>Measurable Outcomes of the Energy Prediction System</vt:lpstr>
      <vt:lpstr>Future Enhancements for Energy Prediction System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Smart Energy Consumption Analysis</dc:title>
  <dc:creator>Himasree</dc:creator>
  <cp:keywords>DAHB3sTPNAo,BAFuJxsI62M,0</cp:keywords>
  <cp:lastModifiedBy>Rama Subrahmanyam Vudatha</cp:lastModifiedBy>
  <cp:revision>1</cp:revision>
  <dcterms:created xsi:type="dcterms:W3CDTF">2026-02-20T18:07:03Z</dcterms:created>
  <dcterms:modified xsi:type="dcterms:W3CDTF">2026-02-20T18:21:14Z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2026-02-20T00:00:00Z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