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Marykate" charset="1" panose="00000000000000000000"/>
      <p:regular r:id="rId16"/>
    </p:embeddedFont>
    <p:embeddedFont>
      <p:font typeface="KG Primary Penmanship" charset="1" panose="02000506000000020003"/>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12" Target="../media/image26.png" Type="http://schemas.openxmlformats.org/officeDocument/2006/relationships/image"/><Relationship Id="rId13" Target="../media/image27.svg" Type="http://schemas.openxmlformats.org/officeDocument/2006/relationships/image"/><Relationship Id="rId14" Target="../media/image28.png" Type="http://schemas.openxmlformats.org/officeDocument/2006/relationships/image"/><Relationship Id="rId15" Target="../media/image29.svg" Type="http://schemas.openxmlformats.org/officeDocument/2006/relationships/image"/><Relationship Id="rId16" Target="../media/image30.png" Type="http://schemas.openxmlformats.org/officeDocument/2006/relationships/image"/><Relationship Id="rId17" Target="../media/image3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svg" Type="http://schemas.openxmlformats.org/officeDocument/2006/relationships/image"/><Relationship Id="rId12" Target="../media/image36.png" Type="http://schemas.openxmlformats.org/officeDocument/2006/relationships/image"/><Relationship Id="rId13" Target="../media/image37.svg" Type="http://schemas.openxmlformats.org/officeDocument/2006/relationships/image"/><Relationship Id="rId14" Target="../media/image38.png" Type="http://schemas.openxmlformats.org/officeDocument/2006/relationships/image"/><Relationship Id="rId15" Target="../media/image39.svg" Type="http://schemas.openxmlformats.org/officeDocument/2006/relationships/image"/><Relationship Id="rId16" Target="../media/image4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43.jpeg" Type="http://schemas.openxmlformats.org/officeDocument/2006/relationships/image"/><Relationship Id="rId9" Target="../media/image2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44.jpeg" Type="http://schemas.openxmlformats.org/officeDocument/2006/relationships/image"/><Relationship Id="rId9" Target="../media/image4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47.png" Type="http://schemas.openxmlformats.org/officeDocument/2006/relationships/image"/><Relationship Id="rId9"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11" Target="../media/image49.png" Type="http://schemas.openxmlformats.org/officeDocument/2006/relationships/image"/><Relationship Id="rId12" Target="../media/image50.png" Type="http://schemas.openxmlformats.org/officeDocument/2006/relationships/image"/><Relationship Id="rId13" Target="../media/image5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12" Target="../media/image52.png" Type="http://schemas.openxmlformats.org/officeDocument/2006/relationships/image"/><Relationship Id="rId13" Target="../media/image53.svg" Type="http://schemas.openxmlformats.org/officeDocument/2006/relationships/image"/><Relationship Id="rId14" Target="../media/image45.png" Type="http://schemas.openxmlformats.org/officeDocument/2006/relationships/image"/><Relationship Id="rId15" Target="../media/image4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C6D8E4"/>
        </a:solidFill>
      </p:bgPr>
    </p:bg>
    <p:spTree>
      <p:nvGrpSpPr>
        <p:cNvPr id="1" name=""/>
        <p:cNvGrpSpPr/>
        <p:nvPr/>
      </p:nvGrpSpPr>
      <p:grpSpPr>
        <a:xfrm>
          <a:off x="0" y="0"/>
          <a:ext cx="0" cy="0"/>
          <a:chOff x="0" y="0"/>
          <a:chExt cx="0" cy="0"/>
        </a:xfrm>
      </p:grpSpPr>
      <p:grpSp>
        <p:nvGrpSpPr>
          <p:cNvPr name="Group 2" id="2"/>
          <p:cNvGrpSpPr/>
          <p:nvPr/>
        </p:nvGrpSpPr>
        <p:grpSpPr>
          <a:xfrm rot="0">
            <a:off x="0" y="0"/>
            <a:ext cx="20554950" cy="10287000"/>
            <a:chOff x="0" y="0"/>
            <a:chExt cx="274066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06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2899467" y="1827915"/>
            <a:ext cx="13588787" cy="7106935"/>
          </a:xfrm>
          <a:custGeom>
            <a:avLst/>
            <a:gdLst/>
            <a:ahLst/>
            <a:cxnLst/>
            <a:rect r="r" b="b" t="t" l="l"/>
            <a:pathLst>
              <a:path h="7106935" w="13588787">
                <a:moveTo>
                  <a:pt x="0" y="0"/>
                </a:moveTo>
                <a:lnTo>
                  <a:pt x="13588786" y="0"/>
                </a:lnTo>
                <a:lnTo>
                  <a:pt x="13588786" y="7106936"/>
                </a:lnTo>
                <a:lnTo>
                  <a:pt x="0" y="71069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805632" y="3048899"/>
            <a:ext cx="15219903" cy="2332484"/>
          </a:xfrm>
          <a:prstGeom prst="rect">
            <a:avLst/>
          </a:prstGeom>
        </p:spPr>
        <p:txBody>
          <a:bodyPr anchor="t" rtlCol="false" tIns="0" lIns="0" bIns="0" rIns="0">
            <a:spAutoFit/>
          </a:bodyPr>
          <a:lstStyle/>
          <a:p>
            <a:pPr algn="ctr">
              <a:lnSpc>
                <a:spcPts val="8879"/>
              </a:lnSpc>
            </a:pPr>
            <a:r>
              <a:rPr lang="en-US" sz="9446">
                <a:solidFill>
                  <a:srgbClr val="2F4156"/>
                </a:solidFill>
                <a:latin typeface="Marykate"/>
                <a:ea typeface="Marykate"/>
                <a:cs typeface="Marykate"/>
                <a:sym typeface="Marykate"/>
              </a:rPr>
              <a:t>SMART ENERGY CONSUMPTION ANALYSIS &amp; PREDICTION</a:t>
            </a:r>
          </a:p>
        </p:txBody>
      </p:sp>
      <p:sp>
        <p:nvSpPr>
          <p:cNvPr name="Freeform 7" id="7"/>
          <p:cNvSpPr/>
          <p:nvPr/>
        </p:nvSpPr>
        <p:spPr>
          <a:xfrm flipH="false" flipV="false" rot="0">
            <a:off x="14397281" y="7068395"/>
            <a:ext cx="3680318" cy="3218605"/>
          </a:xfrm>
          <a:custGeom>
            <a:avLst/>
            <a:gdLst/>
            <a:ahLst/>
            <a:cxnLst/>
            <a:rect r="r" b="b" t="t" l="l"/>
            <a:pathLst>
              <a:path h="3218605" w="3680318">
                <a:moveTo>
                  <a:pt x="0" y="0"/>
                </a:moveTo>
                <a:lnTo>
                  <a:pt x="3680317" y="0"/>
                </a:lnTo>
                <a:lnTo>
                  <a:pt x="3680317" y="3218605"/>
                </a:lnTo>
                <a:lnTo>
                  <a:pt x="0" y="3218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8" id="8"/>
          <p:cNvSpPr/>
          <p:nvPr/>
        </p:nvSpPr>
        <p:spPr>
          <a:xfrm flipH="false" flipV="false" rot="-739691">
            <a:off x="356776" y="283922"/>
            <a:ext cx="3023891" cy="3373510"/>
          </a:xfrm>
          <a:custGeom>
            <a:avLst/>
            <a:gdLst/>
            <a:ahLst/>
            <a:cxnLst/>
            <a:rect r="r" b="b" t="t" l="l"/>
            <a:pathLst>
              <a:path h="3373510" w="3023891">
                <a:moveTo>
                  <a:pt x="0" y="0"/>
                </a:moveTo>
                <a:lnTo>
                  <a:pt x="3023892" y="0"/>
                </a:lnTo>
                <a:lnTo>
                  <a:pt x="3023892" y="3373510"/>
                </a:lnTo>
                <a:lnTo>
                  <a:pt x="0" y="337351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9" id="9"/>
          <p:cNvSpPr/>
          <p:nvPr/>
        </p:nvSpPr>
        <p:spPr>
          <a:xfrm flipH="false" flipV="false" rot="0">
            <a:off x="14881273" y="358259"/>
            <a:ext cx="3213961" cy="2939314"/>
          </a:xfrm>
          <a:custGeom>
            <a:avLst/>
            <a:gdLst/>
            <a:ahLst/>
            <a:cxnLst/>
            <a:rect r="r" b="b" t="t" l="l"/>
            <a:pathLst>
              <a:path h="2939314" w="3213961">
                <a:moveTo>
                  <a:pt x="0" y="0"/>
                </a:moveTo>
                <a:lnTo>
                  <a:pt x="3213961" y="0"/>
                </a:lnTo>
                <a:lnTo>
                  <a:pt x="3213961" y="2939313"/>
                </a:lnTo>
                <a:lnTo>
                  <a:pt x="0" y="293931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37404" y="6620297"/>
            <a:ext cx="3741533" cy="3666703"/>
          </a:xfrm>
          <a:custGeom>
            <a:avLst/>
            <a:gdLst/>
            <a:ahLst/>
            <a:cxnLst/>
            <a:rect r="r" b="b" t="t" l="l"/>
            <a:pathLst>
              <a:path h="3666703" w="3741533">
                <a:moveTo>
                  <a:pt x="0" y="0"/>
                </a:moveTo>
                <a:lnTo>
                  <a:pt x="3741533" y="0"/>
                </a:lnTo>
                <a:lnTo>
                  <a:pt x="3741533" y="3666703"/>
                </a:lnTo>
                <a:lnTo>
                  <a:pt x="0" y="366670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11" id="11"/>
          <p:cNvSpPr txBox="true"/>
          <p:nvPr/>
        </p:nvSpPr>
        <p:spPr>
          <a:xfrm rot="0">
            <a:off x="4591713" y="5666221"/>
            <a:ext cx="10204295" cy="2206825"/>
          </a:xfrm>
          <a:prstGeom prst="rect">
            <a:avLst/>
          </a:prstGeom>
        </p:spPr>
        <p:txBody>
          <a:bodyPr anchor="t" rtlCol="false" tIns="0" lIns="0" bIns="0" rIns="0">
            <a:spAutoFit/>
          </a:bodyPr>
          <a:lstStyle/>
          <a:p>
            <a:pPr algn="ctr">
              <a:lnSpc>
                <a:spcPts val="5886"/>
              </a:lnSpc>
            </a:pPr>
            <a:r>
              <a:rPr lang="en-US" sz="4204">
                <a:solidFill>
                  <a:srgbClr val="2F4156"/>
                </a:solidFill>
                <a:latin typeface="KG Primary Penmanship"/>
                <a:ea typeface="KG Primary Penmanship"/>
                <a:cs typeface="KG Primary Penmanship"/>
                <a:sym typeface="KG Primary Penmanship"/>
              </a:rPr>
              <a:t>AI-Driven Energy Forecasting &amp; Optimization System</a:t>
            </a:r>
          </a:p>
          <a:p>
            <a:pPr algn="ctr">
              <a:lnSpc>
                <a:spcPts val="5886"/>
              </a:lnSpc>
            </a:pPr>
          </a:p>
          <a:p>
            <a:pPr algn="ctr">
              <a:lnSpc>
                <a:spcPts val="5886"/>
              </a:lnSpc>
            </a:pPr>
          </a:p>
        </p:txBody>
      </p:sp>
      <p:sp>
        <p:nvSpPr>
          <p:cNvPr name="TextBox 12" id="12"/>
          <p:cNvSpPr txBox="true"/>
          <p:nvPr/>
        </p:nvSpPr>
        <p:spPr>
          <a:xfrm rot="0">
            <a:off x="4344119" y="658259"/>
            <a:ext cx="9902028" cy="798181"/>
          </a:xfrm>
          <a:prstGeom prst="rect">
            <a:avLst/>
          </a:prstGeom>
        </p:spPr>
        <p:txBody>
          <a:bodyPr anchor="t" rtlCol="false" tIns="0" lIns="0" bIns="0" rIns="0">
            <a:spAutoFit/>
          </a:bodyPr>
          <a:lstStyle/>
          <a:p>
            <a:pPr algn="ctr">
              <a:lnSpc>
                <a:spcPts val="6405"/>
              </a:lnSpc>
            </a:pPr>
            <a:r>
              <a:rPr lang="en-US" sz="4575">
                <a:solidFill>
                  <a:srgbClr val="2F4156"/>
                </a:solidFill>
                <a:latin typeface="KG Primary Penmanship"/>
                <a:ea typeface="KG Primary Penmanship"/>
                <a:cs typeface="KG Primary Penmanship"/>
                <a:sym typeface="KG Primary Penmanship"/>
              </a:rPr>
              <a:t>INFOSYS SPRINGBOARD INTERNSHIP PROJECT</a:t>
            </a:r>
          </a:p>
        </p:txBody>
      </p:sp>
      <p:sp>
        <p:nvSpPr>
          <p:cNvPr name="TextBox 13" id="13"/>
          <p:cNvSpPr txBox="true"/>
          <p:nvPr/>
        </p:nvSpPr>
        <p:spPr>
          <a:xfrm rot="0">
            <a:off x="11943761" y="7486748"/>
            <a:ext cx="2013087" cy="686871"/>
          </a:xfrm>
          <a:prstGeom prst="rect">
            <a:avLst/>
          </a:prstGeom>
        </p:spPr>
        <p:txBody>
          <a:bodyPr anchor="t" rtlCol="false" tIns="0" lIns="0" bIns="0" rIns="0">
            <a:spAutoFit/>
          </a:bodyPr>
          <a:lstStyle/>
          <a:p>
            <a:pPr algn="ctr">
              <a:lnSpc>
                <a:spcPts val="5565"/>
              </a:lnSpc>
            </a:pPr>
            <a:r>
              <a:rPr lang="en-US" sz="3975">
                <a:solidFill>
                  <a:srgbClr val="2F4156"/>
                </a:solidFill>
                <a:latin typeface="KG Primary Penmanship"/>
                <a:ea typeface="KG Primary Penmanship"/>
                <a:cs typeface="KG Primary Penmanship"/>
                <a:sym typeface="KG Primary Penmanship"/>
              </a:rPr>
              <a:t>PUNITH V</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6D8E4"/>
        </a:solidFill>
      </p:bgPr>
    </p:bg>
    <p:spTree>
      <p:nvGrpSpPr>
        <p:cNvPr id="1" name=""/>
        <p:cNvGrpSpPr/>
        <p:nvPr/>
      </p:nvGrpSpPr>
      <p:grpSpPr>
        <a:xfrm>
          <a:off x="0" y="0"/>
          <a:ext cx="0" cy="0"/>
          <a:chOff x="0" y="0"/>
          <a:chExt cx="0" cy="0"/>
        </a:xfrm>
      </p:grpSpPr>
      <p:grpSp>
        <p:nvGrpSpPr>
          <p:cNvPr name="Group 2" id="2"/>
          <p:cNvGrpSpPr/>
          <p:nvPr/>
        </p:nvGrpSpPr>
        <p:grpSpPr>
          <a:xfrm rot="0">
            <a:off x="0" y="0"/>
            <a:ext cx="20554950" cy="10287000"/>
            <a:chOff x="0" y="0"/>
            <a:chExt cx="274066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06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028700" y="1552988"/>
            <a:ext cx="5572448" cy="1403365"/>
          </a:xfrm>
          <a:custGeom>
            <a:avLst/>
            <a:gdLst/>
            <a:ahLst/>
            <a:cxnLst/>
            <a:rect r="r" b="b" t="t" l="l"/>
            <a:pathLst>
              <a:path h="1403365" w="5572448">
                <a:moveTo>
                  <a:pt x="0" y="0"/>
                </a:moveTo>
                <a:lnTo>
                  <a:pt x="5572448" y="0"/>
                </a:lnTo>
                <a:lnTo>
                  <a:pt x="5572448" y="1403365"/>
                </a:lnTo>
                <a:lnTo>
                  <a:pt x="0" y="14033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28700" y="3169380"/>
            <a:ext cx="7770250" cy="5564632"/>
          </a:xfrm>
          <a:custGeom>
            <a:avLst/>
            <a:gdLst/>
            <a:ahLst/>
            <a:cxnLst/>
            <a:rect r="r" b="b" t="t" l="l"/>
            <a:pathLst>
              <a:path h="5564632" w="7770250">
                <a:moveTo>
                  <a:pt x="0" y="0"/>
                </a:moveTo>
                <a:lnTo>
                  <a:pt x="7770250" y="0"/>
                </a:lnTo>
                <a:lnTo>
                  <a:pt x="7770250" y="5564632"/>
                </a:lnTo>
                <a:lnTo>
                  <a:pt x="0" y="55646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4391711" y="3169380"/>
            <a:ext cx="6288974" cy="5564632"/>
          </a:xfrm>
          <a:custGeom>
            <a:avLst/>
            <a:gdLst/>
            <a:ahLst/>
            <a:cxnLst/>
            <a:rect r="r" b="b" t="t" l="l"/>
            <a:pathLst>
              <a:path h="5564632" w="6288974">
                <a:moveTo>
                  <a:pt x="0" y="0"/>
                </a:moveTo>
                <a:lnTo>
                  <a:pt x="6288974" y="0"/>
                </a:lnTo>
                <a:lnTo>
                  <a:pt x="6288974" y="5564632"/>
                </a:lnTo>
                <a:lnTo>
                  <a:pt x="0" y="5564632"/>
                </a:lnTo>
                <a:lnTo>
                  <a:pt x="0" y="0"/>
                </a:lnTo>
                <a:close/>
              </a:path>
            </a:pathLst>
          </a:custGeom>
          <a:blipFill>
            <a:blip r:embed="rId6">
              <a:extLst>
                <a:ext uri="{96DAC541-7B7A-43D3-8B79-37D633B846F1}">
                  <asvg:svgBlip xmlns:asvg="http://schemas.microsoft.com/office/drawing/2016/SVG/main" r:embed="rId7"/>
                </a:ext>
              </a:extLst>
            </a:blip>
            <a:stretch>
              <a:fillRect l="-23553" t="0" r="0" b="0"/>
            </a:stretch>
          </a:blipFill>
          <a:ln cap="sq">
            <a:noFill/>
            <a:prstDash val="solid"/>
            <a:miter/>
          </a:ln>
        </p:spPr>
      </p:sp>
      <p:grpSp>
        <p:nvGrpSpPr>
          <p:cNvPr name="Group 8" id="8"/>
          <p:cNvGrpSpPr/>
          <p:nvPr/>
        </p:nvGrpSpPr>
        <p:grpSpPr>
          <a:xfrm rot="0">
            <a:off x="11322916" y="3262568"/>
            <a:ext cx="5510115" cy="5471444"/>
            <a:chOff x="0" y="0"/>
            <a:chExt cx="7346820" cy="7295259"/>
          </a:xfrm>
        </p:grpSpPr>
        <p:grpSp>
          <p:nvGrpSpPr>
            <p:cNvPr name="Group 9" id="9"/>
            <p:cNvGrpSpPr/>
            <p:nvPr/>
          </p:nvGrpSpPr>
          <p:grpSpPr>
            <a:xfrm rot="0">
              <a:off x="351660" y="300099"/>
              <a:ext cx="6995160" cy="6995160"/>
              <a:chOff x="0" y="0"/>
              <a:chExt cx="1381760" cy="1381760"/>
            </a:xfrm>
          </p:grpSpPr>
          <p:sp>
            <p:nvSpPr>
              <p:cNvPr name="Freeform 10" id="10"/>
              <p:cNvSpPr/>
              <p:nvPr/>
            </p:nvSpPr>
            <p:spPr>
              <a:xfrm flipH="false" flipV="false" rot="0">
                <a:off x="0" y="0"/>
                <a:ext cx="1381760" cy="1381760"/>
              </a:xfrm>
              <a:custGeom>
                <a:avLst/>
                <a:gdLst/>
                <a:ahLst/>
                <a:cxnLst/>
                <a:rect r="r" b="b" t="t" l="l"/>
                <a:pathLst>
                  <a:path h="1381760" w="1381760">
                    <a:moveTo>
                      <a:pt x="110675" y="0"/>
                    </a:moveTo>
                    <a:lnTo>
                      <a:pt x="1271085" y="0"/>
                    </a:lnTo>
                    <a:cubicBezTo>
                      <a:pt x="1332209" y="0"/>
                      <a:pt x="1381760" y="49551"/>
                      <a:pt x="1381760" y="110675"/>
                    </a:cubicBezTo>
                    <a:lnTo>
                      <a:pt x="1381760" y="1271085"/>
                    </a:lnTo>
                    <a:cubicBezTo>
                      <a:pt x="1381760" y="1332209"/>
                      <a:pt x="1332209" y="1381760"/>
                      <a:pt x="1271085" y="1381760"/>
                    </a:cubicBezTo>
                    <a:lnTo>
                      <a:pt x="110675" y="1381760"/>
                    </a:lnTo>
                    <a:cubicBezTo>
                      <a:pt x="81322" y="1381760"/>
                      <a:pt x="53172" y="1370100"/>
                      <a:pt x="32416" y="1349344"/>
                    </a:cubicBezTo>
                    <a:cubicBezTo>
                      <a:pt x="11660" y="1328588"/>
                      <a:pt x="0" y="1300438"/>
                      <a:pt x="0" y="1271085"/>
                    </a:cubicBezTo>
                    <a:lnTo>
                      <a:pt x="0" y="110675"/>
                    </a:lnTo>
                    <a:cubicBezTo>
                      <a:pt x="0" y="49551"/>
                      <a:pt x="49551" y="0"/>
                      <a:pt x="110675" y="0"/>
                    </a:cubicBezTo>
                    <a:close/>
                  </a:path>
                </a:pathLst>
              </a:custGeom>
              <a:solidFill>
                <a:srgbClr val="2F4156"/>
              </a:solidFill>
            </p:spPr>
          </p:sp>
          <p:sp>
            <p:nvSpPr>
              <p:cNvPr name="TextBox 11" id="11"/>
              <p:cNvSpPr txBox="true"/>
              <p:nvPr/>
            </p:nvSpPr>
            <p:spPr>
              <a:xfrm>
                <a:off x="0" y="-38100"/>
                <a:ext cx="1381760" cy="141986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0" y="0"/>
              <a:ext cx="6995160" cy="699516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94443" y="0"/>
                    </a:moveTo>
                    <a:lnTo>
                      <a:pt x="718357" y="0"/>
                    </a:lnTo>
                    <a:cubicBezTo>
                      <a:pt x="743405" y="0"/>
                      <a:pt x="767427" y="9950"/>
                      <a:pt x="785138" y="27662"/>
                    </a:cubicBezTo>
                    <a:cubicBezTo>
                      <a:pt x="802850" y="45373"/>
                      <a:pt x="812800" y="69395"/>
                      <a:pt x="812800" y="94443"/>
                    </a:cubicBezTo>
                    <a:lnTo>
                      <a:pt x="812800" y="718357"/>
                    </a:lnTo>
                    <a:cubicBezTo>
                      <a:pt x="812800" y="743405"/>
                      <a:pt x="802850" y="767427"/>
                      <a:pt x="785138" y="785138"/>
                    </a:cubicBezTo>
                    <a:cubicBezTo>
                      <a:pt x="767427" y="802850"/>
                      <a:pt x="743405" y="812800"/>
                      <a:pt x="718357" y="812800"/>
                    </a:cubicBezTo>
                    <a:lnTo>
                      <a:pt x="94443" y="812800"/>
                    </a:lnTo>
                    <a:cubicBezTo>
                      <a:pt x="69395" y="812800"/>
                      <a:pt x="45373" y="802850"/>
                      <a:pt x="27662" y="785138"/>
                    </a:cubicBezTo>
                    <a:cubicBezTo>
                      <a:pt x="9950" y="767427"/>
                      <a:pt x="0" y="743405"/>
                      <a:pt x="0" y="718357"/>
                    </a:cubicBezTo>
                    <a:lnTo>
                      <a:pt x="0" y="94443"/>
                    </a:lnTo>
                    <a:cubicBezTo>
                      <a:pt x="0" y="69395"/>
                      <a:pt x="9950" y="45373"/>
                      <a:pt x="27662" y="27662"/>
                    </a:cubicBezTo>
                    <a:cubicBezTo>
                      <a:pt x="45373" y="9950"/>
                      <a:pt x="69395" y="0"/>
                      <a:pt x="94443" y="0"/>
                    </a:cubicBezTo>
                    <a:close/>
                  </a:path>
                </a:pathLst>
              </a:custGeom>
              <a:blipFill>
                <a:blip r:embed="rId8"/>
                <a:stretch>
                  <a:fillRect l="-71579" t="-16014" r="-63889" b="-16014"/>
                </a:stretch>
              </a:blipFill>
              <a:ln w="66675" cap="rnd">
                <a:solidFill>
                  <a:srgbClr val="2F4156"/>
                </a:solidFill>
                <a:prstDash val="solid"/>
                <a:round/>
              </a:ln>
            </p:spPr>
          </p:sp>
        </p:grpSp>
      </p:grpSp>
      <p:sp>
        <p:nvSpPr>
          <p:cNvPr name="Freeform 14" id="14"/>
          <p:cNvSpPr/>
          <p:nvPr/>
        </p:nvSpPr>
        <p:spPr>
          <a:xfrm flipH="false" flipV="false" rot="0">
            <a:off x="67716" y="8859063"/>
            <a:ext cx="3020636" cy="1427937"/>
          </a:xfrm>
          <a:custGeom>
            <a:avLst/>
            <a:gdLst/>
            <a:ahLst/>
            <a:cxnLst/>
            <a:rect r="r" b="b" t="t" l="l"/>
            <a:pathLst>
              <a:path h="1427937" w="3020636">
                <a:moveTo>
                  <a:pt x="0" y="0"/>
                </a:moveTo>
                <a:lnTo>
                  <a:pt x="3020636" y="0"/>
                </a:lnTo>
                <a:lnTo>
                  <a:pt x="3020636" y="1427937"/>
                </a:lnTo>
                <a:lnTo>
                  <a:pt x="0" y="142793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5" id="15"/>
          <p:cNvSpPr/>
          <p:nvPr/>
        </p:nvSpPr>
        <p:spPr>
          <a:xfrm flipH="false" flipV="false" rot="0">
            <a:off x="14680195" y="640455"/>
            <a:ext cx="2579105" cy="1950741"/>
          </a:xfrm>
          <a:custGeom>
            <a:avLst/>
            <a:gdLst/>
            <a:ahLst/>
            <a:cxnLst/>
            <a:rect r="r" b="b" t="t" l="l"/>
            <a:pathLst>
              <a:path h="1950741" w="2579105">
                <a:moveTo>
                  <a:pt x="0" y="0"/>
                </a:moveTo>
                <a:lnTo>
                  <a:pt x="2579105" y="0"/>
                </a:lnTo>
                <a:lnTo>
                  <a:pt x="2579105" y="1950741"/>
                </a:lnTo>
                <a:lnTo>
                  <a:pt x="0" y="19507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TextBox 16" id="16"/>
          <p:cNvSpPr txBox="true"/>
          <p:nvPr/>
        </p:nvSpPr>
        <p:spPr>
          <a:xfrm rot="0">
            <a:off x="1578034" y="3856577"/>
            <a:ext cx="8370353" cy="4199763"/>
          </a:xfrm>
          <a:prstGeom prst="rect">
            <a:avLst/>
          </a:prstGeom>
        </p:spPr>
        <p:txBody>
          <a:bodyPr anchor="t" rtlCol="false" tIns="0" lIns="0" bIns="0" rIns="0">
            <a:spAutoFit/>
          </a:bodyPr>
          <a:lstStyle/>
          <a:p>
            <a:pPr algn="l">
              <a:lnSpc>
                <a:spcPts val="4175"/>
              </a:lnSpc>
            </a:pPr>
            <a:r>
              <a:rPr lang="en-US" sz="3599">
                <a:solidFill>
                  <a:srgbClr val="2F4156"/>
                </a:solidFill>
                <a:latin typeface="KG Primary Penmanship"/>
                <a:ea typeface="KG Primary Penmanship"/>
                <a:cs typeface="KG Primary Penmanship"/>
                <a:sym typeface="KG Primary Penmanship"/>
              </a:rPr>
              <a:t>Technology Stack Used in the Project</a:t>
            </a:r>
          </a:p>
          <a:p>
            <a:pPr algn="l" marL="777238" indent="-388619" lvl="1">
              <a:lnSpc>
                <a:spcPts val="4175"/>
              </a:lnSpc>
              <a:buFont typeface="Arial"/>
              <a:buChar char="•"/>
            </a:pPr>
            <a:r>
              <a:rPr lang="en-US" sz="3599">
                <a:solidFill>
                  <a:srgbClr val="2F4156"/>
                </a:solidFill>
                <a:latin typeface="KG Primary Penmanship"/>
                <a:ea typeface="KG Primary Penmanship"/>
                <a:cs typeface="KG Primary Penmanship"/>
                <a:sym typeface="KG Primary Penmanship"/>
              </a:rPr>
              <a:t>Python — Data Processing &amp; ML</a:t>
            </a:r>
          </a:p>
          <a:p>
            <a:pPr algn="l" marL="777238" indent="-388619" lvl="1">
              <a:lnSpc>
                <a:spcPts val="4175"/>
              </a:lnSpc>
              <a:buFont typeface="Arial"/>
              <a:buChar char="•"/>
            </a:pPr>
            <a:r>
              <a:rPr lang="en-US" sz="3599">
                <a:solidFill>
                  <a:srgbClr val="2F4156"/>
                </a:solidFill>
                <a:latin typeface="KG Primary Penmanship"/>
                <a:ea typeface="KG Primary Penmanship"/>
                <a:cs typeface="KG Primary Penmanship"/>
                <a:sym typeface="KG Primary Penmanship"/>
              </a:rPr>
              <a:t>Pandas / NumPy — Data Handling</a:t>
            </a:r>
          </a:p>
          <a:p>
            <a:pPr algn="l" marL="777238" indent="-388619" lvl="1">
              <a:lnSpc>
                <a:spcPts val="4175"/>
              </a:lnSpc>
              <a:buFont typeface="Arial"/>
              <a:buChar char="•"/>
            </a:pPr>
            <a:r>
              <a:rPr lang="en-US" sz="3599">
                <a:solidFill>
                  <a:srgbClr val="2F4156"/>
                </a:solidFill>
                <a:latin typeface="KG Primary Penmanship"/>
                <a:ea typeface="KG Primary Penmanship"/>
                <a:cs typeface="KG Primary Penmanship"/>
                <a:sym typeface="KG Primary Penmanship"/>
              </a:rPr>
              <a:t>Scikit-learn — ML Models</a:t>
            </a:r>
          </a:p>
          <a:p>
            <a:pPr algn="l" marL="777238" indent="-388619" lvl="1">
              <a:lnSpc>
                <a:spcPts val="4175"/>
              </a:lnSpc>
              <a:buFont typeface="Arial"/>
              <a:buChar char="•"/>
            </a:pPr>
            <a:r>
              <a:rPr lang="en-US" sz="3599">
                <a:solidFill>
                  <a:srgbClr val="2F4156"/>
                </a:solidFill>
                <a:latin typeface="KG Primary Penmanship"/>
                <a:ea typeface="KG Primary Penmanship"/>
                <a:cs typeface="KG Primary Penmanship"/>
                <a:sym typeface="KG Primary Penmanship"/>
              </a:rPr>
              <a:t>TensorFlow/Keras — LSTM Deep Learning</a:t>
            </a:r>
          </a:p>
          <a:p>
            <a:pPr algn="l" marL="777238" indent="-388619" lvl="1">
              <a:lnSpc>
                <a:spcPts val="4175"/>
              </a:lnSpc>
              <a:buFont typeface="Arial"/>
              <a:buChar char="•"/>
            </a:pPr>
            <a:r>
              <a:rPr lang="en-US" sz="3599">
                <a:solidFill>
                  <a:srgbClr val="2F4156"/>
                </a:solidFill>
                <a:latin typeface="KG Primary Penmanship"/>
                <a:ea typeface="KG Primary Penmanship"/>
                <a:cs typeface="KG Primary Penmanship"/>
                <a:sym typeface="KG Primary Penmanship"/>
              </a:rPr>
              <a:t>Streamlit — Interactive Dashboard</a:t>
            </a:r>
          </a:p>
          <a:p>
            <a:pPr algn="l" marL="777238" indent="-388619" lvl="1">
              <a:lnSpc>
                <a:spcPts val="4175"/>
              </a:lnSpc>
              <a:buFont typeface="Arial"/>
              <a:buChar char="•"/>
            </a:pPr>
            <a:r>
              <a:rPr lang="en-US" sz="3599">
                <a:solidFill>
                  <a:srgbClr val="2F4156"/>
                </a:solidFill>
                <a:latin typeface="KG Primary Penmanship"/>
                <a:ea typeface="KG Primary Penmanship"/>
                <a:cs typeface="KG Primary Penmanship"/>
                <a:sym typeface="KG Primary Penmanship"/>
              </a:rPr>
              <a:t>Matplotlib / Plotly — Visualization</a:t>
            </a:r>
          </a:p>
          <a:p>
            <a:pPr algn="l">
              <a:lnSpc>
                <a:spcPts val="4175"/>
              </a:lnSpc>
            </a:pPr>
          </a:p>
        </p:txBody>
      </p:sp>
      <p:sp>
        <p:nvSpPr>
          <p:cNvPr name="TextBox 17" id="17"/>
          <p:cNvSpPr txBox="true"/>
          <p:nvPr/>
        </p:nvSpPr>
        <p:spPr>
          <a:xfrm rot="0">
            <a:off x="1349511" y="1472950"/>
            <a:ext cx="4930827" cy="1146810"/>
          </a:xfrm>
          <a:prstGeom prst="rect">
            <a:avLst/>
          </a:prstGeom>
        </p:spPr>
        <p:txBody>
          <a:bodyPr anchor="t" rtlCol="false" tIns="0" lIns="0" bIns="0" rIns="0">
            <a:spAutoFit/>
          </a:bodyPr>
          <a:lstStyle/>
          <a:p>
            <a:pPr algn="ctr">
              <a:lnSpc>
                <a:spcPts val="9239"/>
              </a:lnSpc>
            </a:pPr>
            <a:r>
              <a:rPr lang="en-US" sz="6599">
                <a:solidFill>
                  <a:srgbClr val="2F4156"/>
                </a:solidFill>
                <a:latin typeface="Marykate"/>
                <a:ea typeface="Marykate"/>
                <a:cs typeface="Marykate"/>
                <a:sym typeface="Marykate"/>
              </a:rPr>
              <a:t>Technology Stack</a:t>
            </a:r>
          </a:p>
        </p:txBody>
      </p:sp>
      <p:sp>
        <p:nvSpPr>
          <p:cNvPr name="Freeform 18" id="18"/>
          <p:cNvSpPr/>
          <p:nvPr/>
        </p:nvSpPr>
        <p:spPr>
          <a:xfrm flipH="false" flipV="false" rot="0">
            <a:off x="15267364" y="8819737"/>
            <a:ext cx="3020636" cy="1427937"/>
          </a:xfrm>
          <a:custGeom>
            <a:avLst/>
            <a:gdLst/>
            <a:ahLst/>
            <a:cxnLst/>
            <a:rect r="r" b="b" t="t" l="l"/>
            <a:pathLst>
              <a:path h="1427937" w="3020636">
                <a:moveTo>
                  <a:pt x="0" y="0"/>
                </a:moveTo>
                <a:lnTo>
                  <a:pt x="3020636" y="0"/>
                </a:lnTo>
                <a:lnTo>
                  <a:pt x="3020636" y="1427937"/>
                </a:lnTo>
                <a:lnTo>
                  <a:pt x="0" y="142793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6D8E4"/>
        </a:solidFill>
      </p:bgPr>
    </p:bg>
    <p:spTree>
      <p:nvGrpSpPr>
        <p:cNvPr id="1" name=""/>
        <p:cNvGrpSpPr/>
        <p:nvPr/>
      </p:nvGrpSpPr>
      <p:grpSpPr>
        <a:xfrm>
          <a:off x="0" y="0"/>
          <a:ext cx="0" cy="0"/>
          <a:chOff x="0" y="0"/>
          <a:chExt cx="0" cy="0"/>
        </a:xfrm>
      </p:grpSpPr>
      <p:grpSp>
        <p:nvGrpSpPr>
          <p:cNvPr name="Group 2" id="2"/>
          <p:cNvGrpSpPr/>
          <p:nvPr/>
        </p:nvGrpSpPr>
        <p:grpSpPr>
          <a:xfrm rot="0">
            <a:off x="0" y="0"/>
            <a:ext cx="20554950" cy="10287000"/>
            <a:chOff x="0" y="0"/>
            <a:chExt cx="274066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06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5815448" y="1466147"/>
            <a:ext cx="6657104" cy="1676525"/>
          </a:xfrm>
          <a:custGeom>
            <a:avLst/>
            <a:gdLst/>
            <a:ahLst/>
            <a:cxnLst/>
            <a:rect r="r" b="b" t="t" l="l"/>
            <a:pathLst>
              <a:path h="1676525" w="6657104">
                <a:moveTo>
                  <a:pt x="0" y="0"/>
                </a:moveTo>
                <a:lnTo>
                  <a:pt x="6657104" y="0"/>
                </a:lnTo>
                <a:lnTo>
                  <a:pt x="6657104" y="1676525"/>
                </a:lnTo>
                <a:lnTo>
                  <a:pt x="0" y="16765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836946" y="3239848"/>
            <a:ext cx="8614107" cy="6168957"/>
          </a:xfrm>
          <a:custGeom>
            <a:avLst/>
            <a:gdLst/>
            <a:ahLst/>
            <a:cxnLst/>
            <a:rect r="r" b="b" t="t" l="l"/>
            <a:pathLst>
              <a:path h="6168957" w="8614107">
                <a:moveTo>
                  <a:pt x="0" y="0"/>
                </a:moveTo>
                <a:lnTo>
                  <a:pt x="8614108" y="0"/>
                </a:lnTo>
                <a:lnTo>
                  <a:pt x="8614108" y="6168957"/>
                </a:lnTo>
                <a:lnTo>
                  <a:pt x="0" y="61689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1028700" y="1028700"/>
            <a:ext cx="3730120" cy="2936621"/>
          </a:xfrm>
          <a:custGeom>
            <a:avLst/>
            <a:gdLst/>
            <a:ahLst/>
            <a:cxnLst/>
            <a:rect r="r" b="b" t="t" l="l"/>
            <a:pathLst>
              <a:path h="2936621" w="3730120">
                <a:moveTo>
                  <a:pt x="0" y="0"/>
                </a:moveTo>
                <a:lnTo>
                  <a:pt x="3730120" y="0"/>
                </a:lnTo>
                <a:lnTo>
                  <a:pt x="3730120" y="2936621"/>
                </a:lnTo>
                <a:lnTo>
                  <a:pt x="0" y="29366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0">
            <a:off x="524997" y="7285715"/>
            <a:ext cx="2978057" cy="2712739"/>
          </a:xfrm>
          <a:custGeom>
            <a:avLst/>
            <a:gdLst/>
            <a:ahLst/>
            <a:cxnLst/>
            <a:rect r="r" b="b" t="t" l="l"/>
            <a:pathLst>
              <a:path h="2712739" w="2978057">
                <a:moveTo>
                  <a:pt x="0" y="0"/>
                </a:moveTo>
                <a:lnTo>
                  <a:pt x="2978057" y="0"/>
                </a:lnTo>
                <a:lnTo>
                  <a:pt x="2978057" y="2712739"/>
                </a:lnTo>
                <a:lnTo>
                  <a:pt x="0" y="271273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9" id="9"/>
          <p:cNvSpPr/>
          <p:nvPr/>
        </p:nvSpPr>
        <p:spPr>
          <a:xfrm flipH="false" flipV="false" rot="471201">
            <a:off x="14403249" y="1028700"/>
            <a:ext cx="3147498" cy="3525711"/>
          </a:xfrm>
          <a:custGeom>
            <a:avLst/>
            <a:gdLst/>
            <a:ahLst/>
            <a:cxnLst/>
            <a:rect r="r" b="b" t="t" l="l"/>
            <a:pathLst>
              <a:path h="3525711" w="3147498">
                <a:moveTo>
                  <a:pt x="0" y="0"/>
                </a:moveTo>
                <a:lnTo>
                  <a:pt x="3147498" y="0"/>
                </a:lnTo>
                <a:lnTo>
                  <a:pt x="3147498" y="3525711"/>
                </a:lnTo>
                <a:lnTo>
                  <a:pt x="0" y="352571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0" id="10"/>
          <p:cNvSpPr/>
          <p:nvPr/>
        </p:nvSpPr>
        <p:spPr>
          <a:xfrm flipH="false" flipV="false" rot="0">
            <a:off x="14643904" y="6555878"/>
            <a:ext cx="2666189" cy="2852926"/>
          </a:xfrm>
          <a:custGeom>
            <a:avLst/>
            <a:gdLst/>
            <a:ahLst/>
            <a:cxnLst/>
            <a:rect r="r" b="b" t="t" l="l"/>
            <a:pathLst>
              <a:path h="2852926" w="2666189">
                <a:moveTo>
                  <a:pt x="0" y="0"/>
                </a:moveTo>
                <a:lnTo>
                  <a:pt x="2666189" y="0"/>
                </a:lnTo>
                <a:lnTo>
                  <a:pt x="2666189" y="2852927"/>
                </a:lnTo>
                <a:lnTo>
                  <a:pt x="0" y="285292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TextBox 11" id="11"/>
          <p:cNvSpPr txBox="true"/>
          <p:nvPr/>
        </p:nvSpPr>
        <p:spPr>
          <a:xfrm rot="0">
            <a:off x="6428152" y="1442396"/>
            <a:ext cx="5374547" cy="1285876"/>
          </a:xfrm>
          <a:prstGeom prst="rect">
            <a:avLst/>
          </a:prstGeom>
        </p:spPr>
        <p:txBody>
          <a:bodyPr anchor="t" rtlCol="false" tIns="0" lIns="0" bIns="0" rIns="0">
            <a:spAutoFit/>
          </a:bodyPr>
          <a:lstStyle/>
          <a:p>
            <a:pPr algn="ctr">
              <a:lnSpc>
                <a:spcPts val="10499"/>
              </a:lnSpc>
            </a:pPr>
            <a:r>
              <a:rPr lang="en-US" sz="7499">
                <a:solidFill>
                  <a:srgbClr val="2F4156"/>
                </a:solidFill>
                <a:latin typeface="Marykate"/>
                <a:ea typeface="Marykate"/>
                <a:cs typeface="Marykate"/>
                <a:sym typeface="Marykate"/>
              </a:rPr>
              <a:t>Cor</a:t>
            </a:r>
            <a:r>
              <a:rPr lang="en-US" sz="7499">
                <a:solidFill>
                  <a:srgbClr val="2F4156"/>
                </a:solidFill>
                <a:latin typeface="Marykate"/>
                <a:ea typeface="Marykate"/>
                <a:cs typeface="Marykate"/>
                <a:sym typeface="Marykate"/>
              </a:rPr>
              <a:t>e Features</a:t>
            </a:r>
          </a:p>
        </p:txBody>
      </p:sp>
      <p:sp>
        <p:nvSpPr>
          <p:cNvPr name="TextBox 12" id="12"/>
          <p:cNvSpPr txBox="true"/>
          <p:nvPr/>
        </p:nvSpPr>
        <p:spPr>
          <a:xfrm rot="0">
            <a:off x="5323546" y="3776484"/>
            <a:ext cx="7499866" cy="5473063"/>
          </a:xfrm>
          <a:prstGeom prst="rect">
            <a:avLst/>
          </a:prstGeom>
        </p:spPr>
        <p:txBody>
          <a:bodyPr anchor="t" rtlCol="false" tIns="0" lIns="0" bIns="0" rIns="0">
            <a:spAutoFit/>
          </a:bodyPr>
          <a:lstStyle/>
          <a:p>
            <a:pPr algn="l">
              <a:lnSpc>
                <a:spcPts val="5460"/>
              </a:lnSpc>
              <a:spcBef>
                <a:spcPct val="0"/>
              </a:spcBef>
            </a:pPr>
            <a:r>
              <a:rPr lang="en-US" sz="3900">
                <a:solidFill>
                  <a:srgbClr val="2F4156"/>
                </a:solidFill>
                <a:latin typeface="Marykate"/>
                <a:ea typeface="Marykate"/>
                <a:cs typeface="Marykate"/>
                <a:sym typeface="Marykate"/>
              </a:rPr>
              <a:t>Core Features of Smart Energy Predict</a:t>
            </a:r>
            <a:r>
              <a:rPr lang="en-US" sz="3900">
                <a:solidFill>
                  <a:srgbClr val="2F4156"/>
                </a:solidFill>
                <a:latin typeface="Marykate"/>
                <a:ea typeface="Marykate"/>
                <a:cs typeface="Marykate"/>
                <a:sym typeface="Marykate"/>
              </a:rPr>
              <a:t>or</a:t>
            </a:r>
          </a:p>
          <a:p>
            <a:pPr algn="l" marL="842023" indent="-421011" lvl="1">
              <a:lnSpc>
                <a:spcPts val="5460"/>
              </a:lnSpc>
              <a:spcBef>
                <a:spcPct val="0"/>
              </a:spcBef>
              <a:buFont typeface="Arial"/>
              <a:buChar char="•"/>
            </a:pPr>
            <a:r>
              <a:rPr lang="en-US" sz="3900">
                <a:solidFill>
                  <a:srgbClr val="2F4156"/>
                </a:solidFill>
                <a:latin typeface="Marykate"/>
                <a:ea typeface="Marykate"/>
                <a:cs typeface="Marykate"/>
                <a:sym typeface="Marykate"/>
              </a:rPr>
              <a:t>Predicts future electricity consumption</a:t>
            </a:r>
          </a:p>
          <a:p>
            <a:pPr algn="l" marL="842023" indent="-421011" lvl="1">
              <a:lnSpc>
                <a:spcPts val="5460"/>
              </a:lnSpc>
              <a:spcBef>
                <a:spcPct val="0"/>
              </a:spcBef>
              <a:buFont typeface="Arial"/>
              <a:buChar char="•"/>
            </a:pPr>
            <a:r>
              <a:rPr lang="en-US" sz="3900">
                <a:solidFill>
                  <a:srgbClr val="2F4156"/>
                </a:solidFill>
                <a:latin typeface="Marykate"/>
                <a:ea typeface="Marykate"/>
                <a:cs typeface="Marykate"/>
                <a:sym typeface="Marykate"/>
              </a:rPr>
              <a:t>Real-time input based forecasting</a:t>
            </a:r>
          </a:p>
          <a:p>
            <a:pPr algn="l" marL="842023" indent="-421011" lvl="1">
              <a:lnSpc>
                <a:spcPts val="5460"/>
              </a:lnSpc>
              <a:spcBef>
                <a:spcPct val="0"/>
              </a:spcBef>
              <a:buFont typeface="Arial"/>
              <a:buChar char="•"/>
            </a:pPr>
            <a:r>
              <a:rPr lang="en-US" sz="3900">
                <a:solidFill>
                  <a:srgbClr val="2F4156"/>
                </a:solidFill>
                <a:latin typeface="Marykate"/>
                <a:ea typeface="Marykate"/>
                <a:cs typeface="Marykate"/>
                <a:sym typeface="Marykate"/>
              </a:rPr>
              <a:t>Interactive analytics dashboard</a:t>
            </a:r>
          </a:p>
          <a:p>
            <a:pPr algn="l" marL="842023" indent="-421011" lvl="1">
              <a:lnSpc>
                <a:spcPts val="5460"/>
              </a:lnSpc>
              <a:spcBef>
                <a:spcPct val="0"/>
              </a:spcBef>
              <a:buFont typeface="Arial"/>
              <a:buChar char="•"/>
            </a:pPr>
            <a:r>
              <a:rPr lang="en-US" sz="3900">
                <a:solidFill>
                  <a:srgbClr val="2F4156"/>
                </a:solidFill>
                <a:latin typeface="Marykate"/>
                <a:ea typeface="Marykate"/>
                <a:cs typeface="Marykate"/>
                <a:sym typeface="Marykate"/>
              </a:rPr>
              <a:t>Device-level usage insights</a:t>
            </a:r>
          </a:p>
          <a:p>
            <a:pPr algn="l" marL="842023" indent="-421011" lvl="1">
              <a:lnSpc>
                <a:spcPts val="5460"/>
              </a:lnSpc>
              <a:spcBef>
                <a:spcPct val="0"/>
              </a:spcBef>
              <a:buFont typeface="Arial"/>
              <a:buChar char="•"/>
            </a:pPr>
            <a:r>
              <a:rPr lang="en-US" sz="3900">
                <a:solidFill>
                  <a:srgbClr val="2F4156"/>
                </a:solidFill>
                <a:latin typeface="Marykate"/>
                <a:ea typeface="Marykate"/>
                <a:cs typeface="Marykate"/>
                <a:sym typeface="Marykate"/>
              </a:rPr>
              <a:t>Intelligent energy-saving suggestions</a:t>
            </a:r>
          </a:p>
          <a:p>
            <a:pPr algn="l" marL="842023" indent="-421011" lvl="1">
              <a:lnSpc>
                <a:spcPts val="5460"/>
              </a:lnSpc>
              <a:spcBef>
                <a:spcPct val="0"/>
              </a:spcBef>
              <a:buFont typeface="Arial"/>
              <a:buChar char="•"/>
            </a:pPr>
            <a:r>
              <a:rPr lang="en-US" sz="3900">
                <a:solidFill>
                  <a:srgbClr val="2F4156"/>
                </a:solidFill>
                <a:latin typeface="Marykate"/>
                <a:ea typeface="Marykate"/>
                <a:cs typeface="Marykate"/>
                <a:sym typeface="Marykate"/>
              </a:rPr>
              <a:t>Visual trend analysis charts</a:t>
            </a:r>
          </a:p>
          <a:p>
            <a:pPr algn="l">
              <a:lnSpc>
                <a:spcPts val="5460"/>
              </a:lnSpc>
              <a:spcBef>
                <a:spcPct val="0"/>
              </a:spcBef>
            </a:pPr>
          </a:p>
        </p:txBody>
      </p:sp>
      <p:grpSp>
        <p:nvGrpSpPr>
          <p:cNvPr name="Group 13" id="13"/>
          <p:cNvGrpSpPr/>
          <p:nvPr/>
        </p:nvGrpSpPr>
        <p:grpSpPr>
          <a:xfrm rot="0">
            <a:off x="5237636" y="4595301"/>
            <a:ext cx="577812" cy="1890289"/>
            <a:chOff x="0" y="0"/>
            <a:chExt cx="770416" cy="2520385"/>
          </a:xfrm>
        </p:grpSpPr>
        <p:sp>
          <p:nvSpPr>
            <p:cNvPr name="Freeform 14" id="14"/>
            <p:cNvSpPr/>
            <p:nvPr/>
          </p:nvSpPr>
          <p:spPr>
            <a:xfrm flipH="false" flipV="false" rot="0">
              <a:off x="0" y="0"/>
              <a:ext cx="770416" cy="730933"/>
            </a:xfrm>
            <a:custGeom>
              <a:avLst/>
              <a:gdLst/>
              <a:ahLst/>
              <a:cxnLst/>
              <a:rect r="r" b="b" t="t" l="l"/>
              <a:pathLst>
                <a:path h="730933" w="770416">
                  <a:moveTo>
                    <a:pt x="0" y="0"/>
                  </a:moveTo>
                  <a:lnTo>
                    <a:pt x="770416" y="0"/>
                  </a:lnTo>
                  <a:lnTo>
                    <a:pt x="770416" y="730933"/>
                  </a:lnTo>
                  <a:lnTo>
                    <a:pt x="0" y="73093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5" id="15"/>
            <p:cNvSpPr/>
            <p:nvPr/>
          </p:nvSpPr>
          <p:spPr>
            <a:xfrm flipH="false" flipV="false" rot="0">
              <a:off x="0" y="894726"/>
              <a:ext cx="770416" cy="730933"/>
            </a:xfrm>
            <a:custGeom>
              <a:avLst/>
              <a:gdLst/>
              <a:ahLst/>
              <a:cxnLst/>
              <a:rect r="r" b="b" t="t" l="l"/>
              <a:pathLst>
                <a:path h="730933" w="770416">
                  <a:moveTo>
                    <a:pt x="0" y="0"/>
                  </a:moveTo>
                  <a:lnTo>
                    <a:pt x="770416" y="0"/>
                  </a:lnTo>
                  <a:lnTo>
                    <a:pt x="770416" y="730933"/>
                  </a:lnTo>
                  <a:lnTo>
                    <a:pt x="0" y="73093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0" y="1789453"/>
              <a:ext cx="770416" cy="730933"/>
            </a:xfrm>
            <a:custGeom>
              <a:avLst/>
              <a:gdLst/>
              <a:ahLst/>
              <a:cxnLst/>
              <a:rect r="r" b="b" t="t" l="l"/>
              <a:pathLst>
                <a:path h="730933" w="770416">
                  <a:moveTo>
                    <a:pt x="0" y="0"/>
                  </a:moveTo>
                  <a:lnTo>
                    <a:pt x="770416" y="0"/>
                  </a:lnTo>
                  <a:lnTo>
                    <a:pt x="770416" y="730932"/>
                  </a:lnTo>
                  <a:lnTo>
                    <a:pt x="0" y="73093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grpSp>
        <p:nvGrpSpPr>
          <p:cNvPr name="Group 17" id="17"/>
          <p:cNvGrpSpPr/>
          <p:nvPr/>
        </p:nvGrpSpPr>
        <p:grpSpPr>
          <a:xfrm rot="0">
            <a:off x="5237636" y="6663196"/>
            <a:ext cx="577812" cy="1890289"/>
            <a:chOff x="0" y="0"/>
            <a:chExt cx="770416" cy="2520385"/>
          </a:xfrm>
        </p:grpSpPr>
        <p:sp>
          <p:nvSpPr>
            <p:cNvPr name="Freeform 18" id="18"/>
            <p:cNvSpPr/>
            <p:nvPr/>
          </p:nvSpPr>
          <p:spPr>
            <a:xfrm flipH="false" flipV="false" rot="0">
              <a:off x="0" y="0"/>
              <a:ext cx="770416" cy="730933"/>
            </a:xfrm>
            <a:custGeom>
              <a:avLst/>
              <a:gdLst/>
              <a:ahLst/>
              <a:cxnLst/>
              <a:rect r="r" b="b" t="t" l="l"/>
              <a:pathLst>
                <a:path h="730933" w="770416">
                  <a:moveTo>
                    <a:pt x="0" y="0"/>
                  </a:moveTo>
                  <a:lnTo>
                    <a:pt x="770416" y="0"/>
                  </a:lnTo>
                  <a:lnTo>
                    <a:pt x="770416" y="730933"/>
                  </a:lnTo>
                  <a:lnTo>
                    <a:pt x="0" y="73093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9" id="19"/>
            <p:cNvSpPr/>
            <p:nvPr/>
          </p:nvSpPr>
          <p:spPr>
            <a:xfrm flipH="false" flipV="false" rot="0">
              <a:off x="0" y="894726"/>
              <a:ext cx="770416" cy="730933"/>
            </a:xfrm>
            <a:custGeom>
              <a:avLst/>
              <a:gdLst/>
              <a:ahLst/>
              <a:cxnLst/>
              <a:rect r="r" b="b" t="t" l="l"/>
              <a:pathLst>
                <a:path h="730933" w="770416">
                  <a:moveTo>
                    <a:pt x="0" y="0"/>
                  </a:moveTo>
                  <a:lnTo>
                    <a:pt x="770416" y="0"/>
                  </a:lnTo>
                  <a:lnTo>
                    <a:pt x="770416" y="730933"/>
                  </a:lnTo>
                  <a:lnTo>
                    <a:pt x="0" y="73093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0" id="20"/>
            <p:cNvSpPr/>
            <p:nvPr/>
          </p:nvSpPr>
          <p:spPr>
            <a:xfrm flipH="false" flipV="false" rot="0">
              <a:off x="0" y="1789453"/>
              <a:ext cx="770416" cy="730933"/>
            </a:xfrm>
            <a:custGeom>
              <a:avLst/>
              <a:gdLst/>
              <a:ahLst/>
              <a:cxnLst/>
              <a:rect r="r" b="b" t="t" l="l"/>
              <a:pathLst>
                <a:path h="730933" w="770416">
                  <a:moveTo>
                    <a:pt x="0" y="0"/>
                  </a:moveTo>
                  <a:lnTo>
                    <a:pt x="770416" y="0"/>
                  </a:lnTo>
                  <a:lnTo>
                    <a:pt x="770416" y="730932"/>
                  </a:lnTo>
                  <a:lnTo>
                    <a:pt x="0" y="73093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C6D8E4"/>
        </a:solidFill>
      </p:bgPr>
    </p:bg>
    <p:spTree>
      <p:nvGrpSpPr>
        <p:cNvPr id="1" name=""/>
        <p:cNvGrpSpPr/>
        <p:nvPr/>
      </p:nvGrpSpPr>
      <p:grpSpPr>
        <a:xfrm>
          <a:off x="0" y="0"/>
          <a:ext cx="0" cy="0"/>
          <a:chOff x="0" y="0"/>
          <a:chExt cx="0" cy="0"/>
        </a:xfrm>
      </p:grpSpPr>
      <p:grpSp>
        <p:nvGrpSpPr>
          <p:cNvPr name="Group 2" id="2"/>
          <p:cNvGrpSpPr/>
          <p:nvPr/>
        </p:nvGrpSpPr>
        <p:grpSpPr>
          <a:xfrm rot="0">
            <a:off x="0" y="0"/>
            <a:ext cx="20554950" cy="10287000"/>
            <a:chOff x="0" y="0"/>
            <a:chExt cx="274066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06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5577176" y="1028700"/>
            <a:ext cx="6660462" cy="1677370"/>
          </a:xfrm>
          <a:custGeom>
            <a:avLst/>
            <a:gdLst/>
            <a:ahLst/>
            <a:cxnLst/>
            <a:rect r="r" b="b" t="t" l="l"/>
            <a:pathLst>
              <a:path h="1677370" w="6660462">
                <a:moveTo>
                  <a:pt x="0" y="0"/>
                </a:moveTo>
                <a:lnTo>
                  <a:pt x="6660462" y="0"/>
                </a:lnTo>
                <a:lnTo>
                  <a:pt x="6660462" y="1677370"/>
                </a:lnTo>
                <a:lnTo>
                  <a:pt x="0" y="16773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2076876" y="3001905"/>
            <a:ext cx="14566322" cy="6938994"/>
            <a:chOff x="0" y="0"/>
            <a:chExt cx="19421763" cy="9251992"/>
          </a:xfrm>
        </p:grpSpPr>
        <p:sp>
          <p:nvSpPr>
            <p:cNvPr name="Freeform 7" id="7"/>
            <p:cNvSpPr/>
            <p:nvPr/>
          </p:nvSpPr>
          <p:spPr>
            <a:xfrm flipH="false" flipV="false" rot="0">
              <a:off x="0" y="0"/>
              <a:ext cx="12919145" cy="9251992"/>
            </a:xfrm>
            <a:custGeom>
              <a:avLst/>
              <a:gdLst/>
              <a:ahLst/>
              <a:cxnLst/>
              <a:rect r="r" b="b" t="t" l="l"/>
              <a:pathLst>
                <a:path h="9251992" w="12919145">
                  <a:moveTo>
                    <a:pt x="0" y="0"/>
                  </a:moveTo>
                  <a:lnTo>
                    <a:pt x="12919145" y="0"/>
                  </a:lnTo>
                  <a:lnTo>
                    <a:pt x="12919145" y="9251992"/>
                  </a:lnTo>
                  <a:lnTo>
                    <a:pt x="0" y="92519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8" id="8"/>
            <p:cNvSpPr/>
            <p:nvPr/>
          </p:nvSpPr>
          <p:spPr>
            <a:xfrm flipH="false" flipV="false" rot="0">
              <a:off x="8965451" y="0"/>
              <a:ext cx="10456312" cy="9251992"/>
            </a:xfrm>
            <a:custGeom>
              <a:avLst/>
              <a:gdLst/>
              <a:ahLst/>
              <a:cxnLst/>
              <a:rect r="r" b="b" t="t" l="l"/>
              <a:pathLst>
                <a:path h="9251992" w="10456312">
                  <a:moveTo>
                    <a:pt x="0" y="0"/>
                  </a:moveTo>
                  <a:lnTo>
                    <a:pt x="10456312" y="0"/>
                  </a:lnTo>
                  <a:lnTo>
                    <a:pt x="10456312" y="9251992"/>
                  </a:lnTo>
                  <a:lnTo>
                    <a:pt x="0" y="9251992"/>
                  </a:lnTo>
                  <a:lnTo>
                    <a:pt x="0" y="0"/>
                  </a:lnTo>
                  <a:close/>
                </a:path>
              </a:pathLst>
            </a:custGeom>
            <a:blipFill>
              <a:blip r:embed="rId6">
                <a:extLst>
                  <a:ext uri="{96DAC541-7B7A-43D3-8B79-37D633B846F1}">
                    <asvg:svgBlip xmlns:asvg="http://schemas.microsoft.com/office/drawing/2016/SVG/main" r:embed="rId7"/>
                  </a:ext>
                </a:extLst>
              </a:blip>
              <a:stretch>
                <a:fillRect l="-23553" t="0" r="0" b="0"/>
              </a:stretch>
            </a:blipFill>
            <a:ln cap="sq">
              <a:noFill/>
              <a:prstDash val="solid"/>
              <a:miter/>
            </a:ln>
          </p:spPr>
        </p:sp>
      </p:grpSp>
      <p:sp>
        <p:nvSpPr>
          <p:cNvPr name="Freeform 9" id="9"/>
          <p:cNvSpPr/>
          <p:nvPr/>
        </p:nvSpPr>
        <p:spPr>
          <a:xfrm flipH="false" flipV="false" rot="0">
            <a:off x="677336" y="6839251"/>
            <a:ext cx="2984183" cy="2696616"/>
          </a:xfrm>
          <a:custGeom>
            <a:avLst/>
            <a:gdLst/>
            <a:ahLst/>
            <a:cxnLst/>
            <a:rect r="r" b="b" t="t" l="l"/>
            <a:pathLst>
              <a:path h="2696616" w="2984183">
                <a:moveTo>
                  <a:pt x="0" y="0"/>
                </a:moveTo>
                <a:lnTo>
                  <a:pt x="2984182" y="0"/>
                </a:lnTo>
                <a:lnTo>
                  <a:pt x="2984182" y="2696615"/>
                </a:lnTo>
                <a:lnTo>
                  <a:pt x="0" y="2696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0" id="10"/>
          <p:cNvSpPr/>
          <p:nvPr/>
        </p:nvSpPr>
        <p:spPr>
          <a:xfrm flipH="false" flipV="false" rot="0">
            <a:off x="14577355" y="1028700"/>
            <a:ext cx="2681945" cy="2140680"/>
          </a:xfrm>
          <a:custGeom>
            <a:avLst/>
            <a:gdLst/>
            <a:ahLst/>
            <a:cxnLst/>
            <a:rect r="r" b="b" t="t" l="l"/>
            <a:pathLst>
              <a:path h="2140680" w="2681945">
                <a:moveTo>
                  <a:pt x="0" y="0"/>
                </a:moveTo>
                <a:lnTo>
                  <a:pt x="2681945" y="0"/>
                </a:lnTo>
                <a:lnTo>
                  <a:pt x="2681945" y="2140680"/>
                </a:lnTo>
                <a:lnTo>
                  <a:pt x="0" y="21406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1" id="11"/>
          <p:cNvSpPr/>
          <p:nvPr/>
        </p:nvSpPr>
        <p:spPr>
          <a:xfrm flipH="false" flipV="false" rot="0">
            <a:off x="804156" y="1020787"/>
            <a:ext cx="2433303" cy="2136882"/>
          </a:xfrm>
          <a:custGeom>
            <a:avLst/>
            <a:gdLst/>
            <a:ahLst/>
            <a:cxnLst/>
            <a:rect r="r" b="b" t="t" l="l"/>
            <a:pathLst>
              <a:path h="2136882" w="2433303">
                <a:moveTo>
                  <a:pt x="0" y="0"/>
                </a:moveTo>
                <a:lnTo>
                  <a:pt x="2433303" y="0"/>
                </a:lnTo>
                <a:lnTo>
                  <a:pt x="2433303" y="2136883"/>
                </a:lnTo>
                <a:lnTo>
                  <a:pt x="0" y="213688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2" id="12"/>
          <p:cNvSpPr/>
          <p:nvPr/>
        </p:nvSpPr>
        <p:spPr>
          <a:xfrm flipH="false" flipV="false" rot="0">
            <a:off x="15482900" y="7755037"/>
            <a:ext cx="2000518" cy="2111871"/>
          </a:xfrm>
          <a:custGeom>
            <a:avLst/>
            <a:gdLst/>
            <a:ahLst/>
            <a:cxnLst/>
            <a:rect r="r" b="b" t="t" l="l"/>
            <a:pathLst>
              <a:path h="2111871" w="2000518">
                <a:moveTo>
                  <a:pt x="0" y="0"/>
                </a:moveTo>
                <a:lnTo>
                  <a:pt x="2000518" y="0"/>
                </a:lnTo>
                <a:lnTo>
                  <a:pt x="2000518" y="2111871"/>
                </a:lnTo>
                <a:lnTo>
                  <a:pt x="0" y="211187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3" id="13"/>
          <p:cNvSpPr/>
          <p:nvPr/>
        </p:nvSpPr>
        <p:spPr>
          <a:xfrm flipH="false" flipV="false" rot="0">
            <a:off x="3005249" y="3011496"/>
            <a:ext cx="12709577" cy="6929404"/>
          </a:xfrm>
          <a:custGeom>
            <a:avLst/>
            <a:gdLst/>
            <a:ahLst/>
            <a:cxnLst/>
            <a:rect r="r" b="b" t="t" l="l"/>
            <a:pathLst>
              <a:path h="6929404" w="12709577">
                <a:moveTo>
                  <a:pt x="0" y="0"/>
                </a:moveTo>
                <a:lnTo>
                  <a:pt x="12709576" y="0"/>
                </a:lnTo>
                <a:lnTo>
                  <a:pt x="12709576" y="6929403"/>
                </a:lnTo>
                <a:lnTo>
                  <a:pt x="0" y="6929403"/>
                </a:lnTo>
                <a:lnTo>
                  <a:pt x="0" y="0"/>
                </a:lnTo>
                <a:close/>
              </a:path>
            </a:pathLst>
          </a:custGeom>
          <a:blipFill>
            <a:blip r:embed="rId16"/>
            <a:stretch>
              <a:fillRect l="0" t="-3534" r="0" b="-3534"/>
            </a:stretch>
          </a:blipFill>
        </p:spPr>
      </p:sp>
      <p:sp>
        <p:nvSpPr>
          <p:cNvPr name="TextBox 14" id="14"/>
          <p:cNvSpPr txBox="true"/>
          <p:nvPr/>
        </p:nvSpPr>
        <p:spPr>
          <a:xfrm rot="0">
            <a:off x="5819868" y="952230"/>
            <a:ext cx="6175077" cy="1146810"/>
          </a:xfrm>
          <a:prstGeom prst="rect">
            <a:avLst/>
          </a:prstGeom>
        </p:spPr>
        <p:txBody>
          <a:bodyPr anchor="t" rtlCol="false" tIns="0" lIns="0" bIns="0" rIns="0">
            <a:spAutoFit/>
          </a:bodyPr>
          <a:lstStyle/>
          <a:p>
            <a:pPr algn="ctr">
              <a:lnSpc>
                <a:spcPts val="9239"/>
              </a:lnSpc>
            </a:pPr>
            <a:r>
              <a:rPr lang="en-US" sz="6599">
                <a:solidFill>
                  <a:srgbClr val="2F4156"/>
                </a:solidFill>
                <a:latin typeface="Marykate"/>
                <a:ea typeface="Marykate"/>
                <a:cs typeface="Marykate"/>
                <a:sym typeface="Marykate"/>
              </a:rPr>
              <a:t>System Architecture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C6D8E4"/>
        </a:solidFill>
      </p:bgPr>
    </p:bg>
    <p:spTree>
      <p:nvGrpSpPr>
        <p:cNvPr id="1" name=""/>
        <p:cNvGrpSpPr/>
        <p:nvPr/>
      </p:nvGrpSpPr>
      <p:grpSpPr>
        <a:xfrm>
          <a:off x="0" y="0"/>
          <a:ext cx="0" cy="0"/>
          <a:chOff x="0" y="0"/>
          <a:chExt cx="0" cy="0"/>
        </a:xfrm>
      </p:grpSpPr>
      <p:grpSp>
        <p:nvGrpSpPr>
          <p:cNvPr name="Group 2" id="2"/>
          <p:cNvGrpSpPr/>
          <p:nvPr/>
        </p:nvGrpSpPr>
        <p:grpSpPr>
          <a:xfrm rot="0">
            <a:off x="0" y="0"/>
            <a:ext cx="20554950" cy="10287000"/>
            <a:chOff x="0" y="0"/>
            <a:chExt cx="274066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06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8161629" y="1173424"/>
            <a:ext cx="5393232" cy="1358231"/>
          </a:xfrm>
          <a:custGeom>
            <a:avLst/>
            <a:gdLst/>
            <a:ahLst/>
            <a:cxnLst/>
            <a:rect r="r" b="b" t="t" l="l"/>
            <a:pathLst>
              <a:path h="1358231" w="5393232">
                <a:moveTo>
                  <a:pt x="0" y="0"/>
                </a:moveTo>
                <a:lnTo>
                  <a:pt x="5393232" y="0"/>
                </a:lnTo>
                <a:lnTo>
                  <a:pt x="5393232" y="1358231"/>
                </a:lnTo>
                <a:lnTo>
                  <a:pt x="0" y="13582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8161629" y="2769289"/>
            <a:ext cx="9097671" cy="3020062"/>
            <a:chOff x="0" y="0"/>
            <a:chExt cx="12130228" cy="4026749"/>
          </a:xfrm>
        </p:grpSpPr>
        <p:sp>
          <p:nvSpPr>
            <p:cNvPr name="Freeform 7" id="7"/>
            <p:cNvSpPr/>
            <p:nvPr/>
          </p:nvSpPr>
          <p:spPr>
            <a:xfrm flipH="false" flipV="false" rot="0">
              <a:off x="0" y="0"/>
              <a:ext cx="9753600" cy="4026749"/>
            </a:xfrm>
            <a:custGeom>
              <a:avLst/>
              <a:gdLst/>
              <a:ahLst/>
              <a:cxnLst/>
              <a:rect r="r" b="b" t="t" l="l"/>
              <a:pathLst>
                <a:path h="4026749" w="9753600">
                  <a:moveTo>
                    <a:pt x="0" y="0"/>
                  </a:moveTo>
                  <a:lnTo>
                    <a:pt x="9753600" y="0"/>
                  </a:lnTo>
                  <a:lnTo>
                    <a:pt x="9753600" y="4026749"/>
                  </a:lnTo>
                  <a:lnTo>
                    <a:pt x="0" y="40267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8" id="8"/>
            <p:cNvSpPr/>
            <p:nvPr/>
          </p:nvSpPr>
          <p:spPr>
            <a:xfrm flipH="false" flipV="false" rot="0">
              <a:off x="4473159" y="0"/>
              <a:ext cx="7657069" cy="4026749"/>
            </a:xfrm>
            <a:custGeom>
              <a:avLst/>
              <a:gdLst/>
              <a:ahLst/>
              <a:cxnLst/>
              <a:rect r="r" b="b" t="t" l="l"/>
              <a:pathLst>
                <a:path h="4026749" w="7657069">
                  <a:moveTo>
                    <a:pt x="0" y="0"/>
                  </a:moveTo>
                  <a:lnTo>
                    <a:pt x="7657069" y="0"/>
                  </a:lnTo>
                  <a:lnTo>
                    <a:pt x="7657069" y="4026749"/>
                  </a:lnTo>
                  <a:lnTo>
                    <a:pt x="0" y="4026749"/>
                  </a:lnTo>
                  <a:lnTo>
                    <a:pt x="0" y="0"/>
                  </a:lnTo>
                  <a:close/>
                </a:path>
              </a:pathLst>
            </a:custGeom>
            <a:blipFill>
              <a:blip r:embed="rId6">
                <a:extLst>
                  <a:ext uri="{96DAC541-7B7A-43D3-8B79-37D633B846F1}">
                    <asvg:svgBlip xmlns:asvg="http://schemas.microsoft.com/office/drawing/2016/SVG/main" r:embed="rId7"/>
                  </a:ext>
                </a:extLst>
              </a:blip>
              <a:stretch>
                <a:fillRect l="-27380" t="0" r="0" b="0"/>
              </a:stretch>
            </a:blipFill>
            <a:ln cap="sq">
              <a:noFill/>
              <a:prstDash val="solid"/>
              <a:miter/>
            </a:ln>
          </p:spPr>
        </p:sp>
      </p:grpSp>
      <p:grpSp>
        <p:nvGrpSpPr>
          <p:cNvPr name="Group 9" id="9"/>
          <p:cNvGrpSpPr/>
          <p:nvPr/>
        </p:nvGrpSpPr>
        <p:grpSpPr>
          <a:xfrm rot="0">
            <a:off x="8161629" y="6093514"/>
            <a:ext cx="9097671" cy="3020062"/>
            <a:chOff x="0" y="0"/>
            <a:chExt cx="12130228" cy="4026749"/>
          </a:xfrm>
        </p:grpSpPr>
        <p:sp>
          <p:nvSpPr>
            <p:cNvPr name="Freeform 10" id="10"/>
            <p:cNvSpPr/>
            <p:nvPr/>
          </p:nvSpPr>
          <p:spPr>
            <a:xfrm flipH="false" flipV="false" rot="0">
              <a:off x="0" y="0"/>
              <a:ext cx="9753600" cy="4026749"/>
            </a:xfrm>
            <a:custGeom>
              <a:avLst/>
              <a:gdLst/>
              <a:ahLst/>
              <a:cxnLst/>
              <a:rect r="r" b="b" t="t" l="l"/>
              <a:pathLst>
                <a:path h="4026749" w="9753600">
                  <a:moveTo>
                    <a:pt x="0" y="0"/>
                  </a:moveTo>
                  <a:lnTo>
                    <a:pt x="9753600" y="0"/>
                  </a:lnTo>
                  <a:lnTo>
                    <a:pt x="9753600" y="4026749"/>
                  </a:lnTo>
                  <a:lnTo>
                    <a:pt x="0" y="40267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1" id="11"/>
            <p:cNvSpPr/>
            <p:nvPr/>
          </p:nvSpPr>
          <p:spPr>
            <a:xfrm flipH="false" flipV="false" rot="0">
              <a:off x="4473159" y="0"/>
              <a:ext cx="7657069" cy="4026749"/>
            </a:xfrm>
            <a:custGeom>
              <a:avLst/>
              <a:gdLst/>
              <a:ahLst/>
              <a:cxnLst/>
              <a:rect r="r" b="b" t="t" l="l"/>
              <a:pathLst>
                <a:path h="4026749" w="7657069">
                  <a:moveTo>
                    <a:pt x="0" y="0"/>
                  </a:moveTo>
                  <a:lnTo>
                    <a:pt x="7657069" y="0"/>
                  </a:lnTo>
                  <a:lnTo>
                    <a:pt x="7657069" y="4026749"/>
                  </a:lnTo>
                  <a:lnTo>
                    <a:pt x="0" y="4026749"/>
                  </a:lnTo>
                  <a:lnTo>
                    <a:pt x="0" y="0"/>
                  </a:lnTo>
                  <a:close/>
                </a:path>
              </a:pathLst>
            </a:custGeom>
            <a:blipFill>
              <a:blip r:embed="rId6">
                <a:extLst>
                  <a:ext uri="{96DAC541-7B7A-43D3-8B79-37D633B846F1}">
                    <asvg:svgBlip xmlns:asvg="http://schemas.microsoft.com/office/drawing/2016/SVG/main" r:embed="rId7"/>
                  </a:ext>
                </a:extLst>
              </a:blip>
              <a:stretch>
                <a:fillRect l="-27380" t="0" r="0" b="0"/>
              </a:stretch>
            </a:blipFill>
            <a:ln cap="sq">
              <a:noFill/>
              <a:prstDash val="solid"/>
              <a:miter/>
            </a:ln>
          </p:spPr>
        </p:sp>
      </p:grpSp>
      <p:grpSp>
        <p:nvGrpSpPr>
          <p:cNvPr name="Group 12" id="12"/>
          <p:cNvGrpSpPr/>
          <p:nvPr/>
        </p:nvGrpSpPr>
        <p:grpSpPr>
          <a:xfrm rot="0">
            <a:off x="1171207" y="3192962"/>
            <a:ext cx="5933192" cy="5891552"/>
            <a:chOff x="0" y="0"/>
            <a:chExt cx="7910922" cy="7855403"/>
          </a:xfrm>
        </p:grpSpPr>
        <p:grpSp>
          <p:nvGrpSpPr>
            <p:cNvPr name="Group 13" id="13"/>
            <p:cNvGrpSpPr/>
            <p:nvPr/>
          </p:nvGrpSpPr>
          <p:grpSpPr>
            <a:xfrm rot="0">
              <a:off x="378661" y="323141"/>
              <a:ext cx="7532262" cy="7532262"/>
              <a:chOff x="0" y="0"/>
              <a:chExt cx="1381760" cy="1381760"/>
            </a:xfrm>
          </p:grpSpPr>
          <p:sp>
            <p:nvSpPr>
              <p:cNvPr name="Freeform 14" id="14"/>
              <p:cNvSpPr/>
              <p:nvPr/>
            </p:nvSpPr>
            <p:spPr>
              <a:xfrm flipH="false" flipV="false" rot="0">
                <a:off x="0" y="0"/>
                <a:ext cx="1381760" cy="1381760"/>
              </a:xfrm>
              <a:custGeom>
                <a:avLst/>
                <a:gdLst/>
                <a:ahLst/>
                <a:cxnLst/>
                <a:rect r="r" b="b" t="t" l="l"/>
                <a:pathLst>
                  <a:path h="1381760" w="1381760">
                    <a:moveTo>
                      <a:pt x="110675" y="0"/>
                    </a:moveTo>
                    <a:lnTo>
                      <a:pt x="1271085" y="0"/>
                    </a:lnTo>
                    <a:cubicBezTo>
                      <a:pt x="1332209" y="0"/>
                      <a:pt x="1381760" y="49551"/>
                      <a:pt x="1381760" y="110675"/>
                    </a:cubicBezTo>
                    <a:lnTo>
                      <a:pt x="1381760" y="1271085"/>
                    </a:lnTo>
                    <a:cubicBezTo>
                      <a:pt x="1381760" y="1332209"/>
                      <a:pt x="1332209" y="1381760"/>
                      <a:pt x="1271085" y="1381760"/>
                    </a:cubicBezTo>
                    <a:lnTo>
                      <a:pt x="110675" y="1381760"/>
                    </a:lnTo>
                    <a:cubicBezTo>
                      <a:pt x="81322" y="1381760"/>
                      <a:pt x="53172" y="1370100"/>
                      <a:pt x="32416" y="1349344"/>
                    </a:cubicBezTo>
                    <a:cubicBezTo>
                      <a:pt x="11660" y="1328588"/>
                      <a:pt x="0" y="1300438"/>
                      <a:pt x="0" y="1271085"/>
                    </a:cubicBezTo>
                    <a:lnTo>
                      <a:pt x="0" y="110675"/>
                    </a:lnTo>
                    <a:cubicBezTo>
                      <a:pt x="0" y="49551"/>
                      <a:pt x="49551" y="0"/>
                      <a:pt x="110675" y="0"/>
                    </a:cubicBezTo>
                    <a:close/>
                  </a:path>
                </a:pathLst>
              </a:custGeom>
              <a:solidFill>
                <a:srgbClr val="2F4156"/>
              </a:solidFill>
            </p:spPr>
          </p:sp>
          <p:sp>
            <p:nvSpPr>
              <p:cNvPr name="TextBox 15" id="15"/>
              <p:cNvSpPr txBox="true"/>
              <p:nvPr/>
            </p:nvSpPr>
            <p:spPr>
              <a:xfrm>
                <a:off x="0" y="-38100"/>
                <a:ext cx="1381760" cy="141986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0" y="0"/>
              <a:ext cx="7532262" cy="753226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94443" y="0"/>
                    </a:moveTo>
                    <a:lnTo>
                      <a:pt x="718357" y="0"/>
                    </a:lnTo>
                    <a:cubicBezTo>
                      <a:pt x="743405" y="0"/>
                      <a:pt x="767427" y="9950"/>
                      <a:pt x="785138" y="27662"/>
                    </a:cubicBezTo>
                    <a:cubicBezTo>
                      <a:pt x="802850" y="45373"/>
                      <a:pt x="812800" y="69395"/>
                      <a:pt x="812800" y="94443"/>
                    </a:cubicBezTo>
                    <a:lnTo>
                      <a:pt x="812800" y="718357"/>
                    </a:lnTo>
                    <a:cubicBezTo>
                      <a:pt x="812800" y="743405"/>
                      <a:pt x="802850" y="767427"/>
                      <a:pt x="785138" y="785138"/>
                    </a:cubicBezTo>
                    <a:cubicBezTo>
                      <a:pt x="767427" y="802850"/>
                      <a:pt x="743405" y="812800"/>
                      <a:pt x="718357" y="812800"/>
                    </a:cubicBezTo>
                    <a:lnTo>
                      <a:pt x="94443" y="812800"/>
                    </a:lnTo>
                    <a:cubicBezTo>
                      <a:pt x="69395" y="812800"/>
                      <a:pt x="45373" y="802850"/>
                      <a:pt x="27662" y="785138"/>
                    </a:cubicBezTo>
                    <a:cubicBezTo>
                      <a:pt x="9950" y="767427"/>
                      <a:pt x="0" y="743405"/>
                      <a:pt x="0" y="718357"/>
                    </a:cubicBezTo>
                    <a:lnTo>
                      <a:pt x="0" y="94443"/>
                    </a:lnTo>
                    <a:cubicBezTo>
                      <a:pt x="0" y="69395"/>
                      <a:pt x="9950" y="45373"/>
                      <a:pt x="27662" y="27662"/>
                    </a:cubicBezTo>
                    <a:cubicBezTo>
                      <a:pt x="45373" y="9950"/>
                      <a:pt x="69395" y="0"/>
                      <a:pt x="94443" y="0"/>
                    </a:cubicBezTo>
                    <a:close/>
                  </a:path>
                </a:pathLst>
              </a:custGeom>
              <a:blipFill>
                <a:blip r:embed="rId8"/>
                <a:stretch>
                  <a:fillRect l="-15207" t="0" r="-34886" b="0"/>
                </a:stretch>
              </a:blipFill>
              <a:ln w="66675" cap="rnd">
                <a:solidFill>
                  <a:srgbClr val="2F4156"/>
                </a:solidFill>
                <a:prstDash val="solid"/>
                <a:round/>
              </a:ln>
            </p:spPr>
          </p:sp>
        </p:grpSp>
      </p:grpSp>
      <p:sp>
        <p:nvSpPr>
          <p:cNvPr name="TextBox 18" id="18"/>
          <p:cNvSpPr txBox="true"/>
          <p:nvPr/>
        </p:nvSpPr>
        <p:spPr>
          <a:xfrm rot="0">
            <a:off x="8624035" y="1064822"/>
            <a:ext cx="4449371" cy="1146810"/>
          </a:xfrm>
          <a:prstGeom prst="rect">
            <a:avLst/>
          </a:prstGeom>
        </p:spPr>
        <p:txBody>
          <a:bodyPr anchor="t" rtlCol="false" tIns="0" lIns="0" bIns="0" rIns="0">
            <a:spAutoFit/>
          </a:bodyPr>
          <a:lstStyle/>
          <a:p>
            <a:pPr algn="ctr">
              <a:lnSpc>
                <a:spcPts val="9239"/>
              </a:lnSpc>
            </a:pPr>
            <a:r>
              <a:rPr lang="en-US" sz="6599">
                <a:solidFill>
                  <a:srgbClr val="2F4156"/>
                </a:solidFill>
                <a:latin typeface="Marykate"/>
                <a:ea typeface="Marykate"/>
                <a:cs typeface="Marykate"/>
                <a:sym typeface="Marykate"/>
              </a:rPr>
              <a:t>Challenges</a:t>
            </a:r>
          </a:p>
        </p:txBody>
      </p:sp>
      <p:sp>
        <p:nvSpPr>
          <p:cNvPr name="TextBox 19" id="19"/>
          <p:cNvSpPr txBox="true"/>
          <p:nvPr/>
        </p:nvSpPr>
        <p:spPr>
          <a:xfrm rot="0">
            <a:off x="8624035" y="3226608"/>
            <a:ext cx="8466114" cy="2171954"/>
          </a:xfrm>
          <a:prstGeom prst="rect">
            <a:avLst/>
          </a:prstGeom>
        </p:spPr>
        <p:txBody>
          <a:bodyPr anchor="t" rtlCol="false" tIns="0" lIns="0" bIns="0" rIns="0">
            <a:spAutoFit/>
          </a:bodyPr>
          <a:lstStyle/>
          <a:p>
            <a:pPr algn="l">
              <a:lnSpc>
                <a:spcPts val="4639"/>
              </a:lnSpc>
            </a:pPr>
            <a:r>
              <a:rPr lang="en-US" sz="3999">
                <a:solidFill>
                  <a:srgbClr val="2F4156"/>
                </a:solidFill>
                <a:latin typeface="KG Primary Penmanship"/>
                <a:ea typeface="KG Primary Penmanship"/>
                <a:cs typeface="KG Primary Penmanship"/>
                <a:sym typeface="KG Primary Penmanship"/>
              </a:rPr>
              <a:t>Challenges in Energy Consumption Monitoring</a:t>
            </a:r>
          </a:p>
          <a:p>
            <a:pPr algn="l" marL="777238" indent="-388619" lvl="1">
              <a:lnSpc>
                <a:spcPts val="4175"/>
              </a:lnSpc>
              <a:buFont typeface="Arial"/>
              <a:buChar char="•"/>
            </a:pPr>
            <a:r>
              <a:rPr lang="en-US" sz="3599">
                <a:solidFill>
                  <a:srgbClr val="2F4156"/>
                </a:solidFill>
                <a:latin typeface="KG Primary Penmanship"/>
                <a:ea typeface="KG Primary Penmanship"/>
                <a:cs typeface="KG Primary Penmanship"/>
                <a:sym typeface="KG Primary Penmanship"/>
              </a:rPr>
              <a:t>No real-time visibility of electricity usage</a:t>
            </a:r>
          </a:p>
          <a:p>
            <a:pPr algn="l" marL="777238" indent="-388619" lvl="1">
              <a:lnSpc>
                <a:spcPts val="4175"/>
              </a:lnSpc>
              <a:buFont typeface="Arial"/>
              <a:buChar char="•"/>
            </a:pPr>
            <a:r>
              <a:rPr lang="en-US" sz="3599">
                <a:solidFill>
                  <a:srgbClr val="2F4156"/>
                </a:solidFill>
                <a:latin typeface="KG Primary Penmanship"/>
                <a:ea typeface="KG Primary Penmanship"/>
                <a:cs typeface="KG Primary Penmanship"/>
                <a:sym typeface="KG Primary Penmanship"/>
              </a:rPr>
              <a:t>Users cannot predict future consumption trends</a:t>
            </a:r>
          </a:p>
          <a:p>
            <a:pPr algn="l">
              <a:lnSpc>
                <a:spcPts val="4175"/>
              </a:lnSpc>
            </a:pPr>
          </a:p>
        </p:txBody>
      </p:sp>
      <p:sp>
        <p:nvSpPr>
          <p:cNvPr name="TextBox 20" id="20"/>
          <p:cNvSpPr txBox="true"/>
          <p:nvPr/>
        </p:nvSpPr>
        <p:spPr>
          <a:xfrm rot="0">
            <a:off x="8513989" y="6360851"/>
            <a:ext cx="8686206" cy="2104263"/>
          </a:xfrm>
          <a:prstGeom prst="rect">
            <a:avLst/>
          </a:prstGeom>
        </p:spPr>
        <p:txBody>
          <a:bodyPr anchor="t" rtlCol="false" tIns="0" lIns="0" bIns="0" rIns="0">
            <a:spAutoFit/>
          </a:bodyPr>
          <a:lstStyle/>
          <a:p>
            <a:pPr algn="l" marL="777238" indent="-388619" lvl="1">
              <a:lnSpc>
                <a:spcPts val="4175"/>
              </a:lnSpc>
              <a:buFont typeface="Arial"/>
              <a:buChar char="•"/>
            </a:pPr>
            <a:r>
              <a:rPr lang="en-US" sz="3599">
                <a:solidFill>
                  <a:srgbClr val="2F4156"/>
                </a:solidFill>
                <a:latin typeface="KG Primary Penmanship"/>
                <a:ea typeface="KG Primary Penmanship"/>
                <a:cs typeface="KG Primary Penmanship"/>
                <a:sym typeface="KG Primary Penmanship"/>
              </a:rPr>
              <a:t>Energy wastage often goes unnoticed</a:t>
            </a:r>
          </a:p>
          <a:p>
            <a:pPr algn="l" marL="777238" indent="-388619" lvl="1">
              <a:lnSpc>
                <a:spcPts val="4175"/>
              </a:lnSpc>
              <a:buFont typeface="Arial"/>
              <a:buChar char="•"/>
            </a:pPr>
            <a:r>
              <a:rPr lang="en-US" sz="3599">
                <a:solidFill>
                  <a:srgbClr val="2F4156"/>
                </a:solidFill>
                <a:latin typeface="KG Primary Penmanship"/>
                <a:ea typeface="KG Primary Penmanship"/>
                <a:cs typeface="KG Primary Penmanship"/>
                <a:sym typeface="KG Primary Penmanship"/>
              </a:rPr>
              <a:t> No automated detection of abnormal usage</a:t>
            </a:r>
          </a:p>
          <a:p>
            <a:pPr algn="l" marL="777238" indent="-388619" lvl="1">
              <a:lnSpc>
                <a:spcPts val="4175"/>
              </a:lnSpc>
              <a:buFont typeface="Arial"/>
              <a:buChar char="•"/>
            </a:pPr>
            <a:r>
              <a:rPr lang="en-US" sz="3599">
                <a:solidFill>
                  <a:srgbClr val="2F4156"/>
                </a:solidFill>
                <a:latin typeface="KG Primary Penmanship"/>
                <a:ea typeface="KG Primary Penmanship"/>
                <a:cs typeface="KG Primary Penmanship"/>
                <a:sym typeface="KG Primary Penmanship"/>
              </a:rPr>
              <a:t> Lack of intelligent recommendations for optimization</a:t>
            </a:r>
          </a:p>
        </p:txBody>
      </p:sp>
      <p:sp>
        <p:nvSpPr>
          <p:cNvPr name="Freeform 21" id="21"/>
          <p:cNvSpPr/>
          <p:nvPr/>
        </p:nvSpPr>
        <p:spPr>
          <a:xfrm flipH="false" flipV="false" rot="0">
            <a:off x="802564" y="580913"/>
            <a:ext cx="2579105" cy="1950741"/>
          </a:xfrm>
          <a:custGeom>
            <a:avLst/>
            <a:gdLst/>
            <a:ahLst/>
            <a:cxnLst/>
            <a:rect r="r" b="b" t="t" l="l"/>
            <a:pathLst>
              <a:path h="1950741" w="2579105">
                <a:moveTo>
                  <a:pt x="0" y="0"/>
                </a:moveTo>
                <a:lnTo>
                  <a:pt x="2579106" y="0"/>
                </a:lnTo>
                <a:lnTo>
                  <a:pt x="2579106" y="1950742"/>
                </a:lnTo>
                <a:lnTo>
                  <a:pt x="0" y="19507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C6D8E4"/>
        </a:solidFill>
      </p:bgPr>
    </p:bg>
    <p:spTree>
      <p:nvGrpSpPr>
        <p:cNvPr id="1" name=""/>
        <p:cNvGrpSpPr/>
        <p:nvPr/>
      </p:nvGrpSpPr>
      <p:grpSpPr>
        <a:xfrm>
          <a:off x="0" y="0"/>
          <a:ext cx="0" cy="0"/>
          <a:chOff x="0" y="0"/>
          <a:chExt cx="0" cy="0"/>
        </a:xfrm>
      </p:grpSpPr>
      <p:grpSp>
        <p:nvGrpSpPr>
          <p:cNvPr name="Group 2" id="2"/>
          <p:cNvGrpSpPr/>
          <p:nvPr/>
        </p:nvGrpSpPr>
        <p:grpSpPr>
          <a:xfrm rot="0">
            <a:off x="0" y="0"/>
            <a:ext cx="20554950" cy="10287000"/>
            <a:chOff x="0" y="0"/>
            <a:chExt cx="274066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06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179804" y="1173424"/>
            <a:ext cx="5393232" cy="1358231"/>
          </a:xfrm>
          <a:custGeom>
            <a:avLst/>
            <a:gdLst/>
            <a:ahLst/>
            <a:cxnLst/>
            <a:rect r="r" b="b" t="t" l="l"/>
            <a:pathLst>
              <a:path h="1358231" w="5393232">
                <a:moveTo>
                  <a:pt x="0" y="0"/>
                </a:moveTo>
                <a:lnTo>
                  <a:pt x="5393232" y="0"/>
                </a:lnTo>
                <a:lnTo>
                  <a:pt x="5393232" y="1358231"/>
                </a:lnTo>
                <a:lnTo>
                  <a:pt x="0" y="13582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179804" y="2769289"/>
            <a:ext cx="9655213" cy="3205143"/>
            <a:chOff x="0" y="0"/>
            <a:chExt cx="12873617" cy="4273525"/>
          </a:xfrm>
        </p:grpSpPr>
        <p:sp>
          <p:nvSpPr>
            <p:cNvPr name="Freeform 7" id="7"/>
            <p:cNvSpPr/>
            <p:nvPr/>
          </p:nvSpPr>
          <p:spPr>
            <a:xfrm flipH="false" flipV="false" rot="0">
              <a:off x="0" y="0"/>
              <a:ext cx="10351340" cy="4273525"/>
            </a:xfrm>
            <a:custGeom>
              <a:avLst/>
              <a:gdLst/>
              <a:ahLst/>
              <a:cxnLst/>
              <a:rect r="r" b="b" t="t" l="l"/>
              <a:pathLst>
                <a:path h="4273525" w="10351340">
                  <a:moveTo>
                    <a:pt x="0" y="0"/>
                  </a:moveTo>
                  <a:lnTo>
                    <a:pt x="10351340" y="0"/>
                  </a:lnTo>
                  <a:lnTo>
                    <a:pt x="10351340" y="4273525"/>
                  </a:lnTo>
                  <a:lnTo>
                    <a:pt x="0" y="42735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8" id="8"/>
            <p:cNvSpPr/>
            <p:nvPr/>
          </p:nvSpPr>
          <p:spPr>
            <a:xfrm flipH="false" flipV="false" rot="0">
              <a:off x="4747292" y="0"/>
              <a:ext cx="8126325" cy="4273525"/>
            </a:xfrm>
            <a:custGeom>
              <a:avLst/>
              <a:gdLst/>
              <a:ahLst/>
              <a:cxnLst/>
              <a:rect r="r" b="b" t="t" l="l"/>
              <a:pathLst>
                <a:path h="4273525" w="8126325">
                  <a:moveTo>
                    <a:pt x="0" y="0"/>
                  </a:moveTo>
                  <a:lnTo>
                    <a:pt x="8126325" y="0"/>
                  </a:lnTo>
                  <a:lnTo>
                    <a:pt x="8126325" y="4273525"/>
                  </a:lnTo>
                  <a:lnTo>
                    <a:pt x="0" y="4273525"/>
                  </a:lnTo>
                  <a:lnTo>
                    <a:pt x="0" y="0"/>
                  </a:lnTo>
                  <a:close/>
                </a:path>
              </a:pathLst>
            </a:custGeom>
            <a:blipFill>
              <a:blip r:embed="rId6">
                <a:extLst>
                  <a:ext uri="{96DAC541-7B7A-43D3-8B79-37D633B846F1}">
                    <asvg:svgBlip xmlns:asvg="http://schemas.microsoft.com/office/drawing/2016/SVG/main" r:embed="rId7"/>
                  </a:ext>
                </a:extLst>
              </a:blip>
              <a:stretch>
                <a:fillRect l="-27380" t="0" r="0" b="0"/>
              </a:stretch>
            </a:blipFill>
            <a:ln cap="sq">
              <a:noFill/>
              <a:prstDash val="solid"/>
              <a:miter/>
            </a:ln>
          </p:spPr>
        </p:sp>
      </p:grpSp>
      <p:grpSp>
        <p:nvGrpSpPr>
          <p:cNvPr name="Group 9" id="9"/>
          <p:cNvGrpSpPr/>
          <p:nvPr/>
        </p:nvGrpSpPr>
        <p:grpSpPr>
          <a:xfrm rot="0">
            <a:off x="965437" y="2703251"/>
            <a:ext cx="1353545" cy="135354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4156"/>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179804" y="6093514"/>
            <a:ext cx="9655213" cy="3205143"/>
            <a:chOff x="0" y="0"/>
            <a:chExt cx="12873617" cy="4273525"/>
          </a:xfrm>
        </p:grpSpPr>
        <p:sp>
          <p:nvSpPr>
            <p:cNvPr name="Freeform 13" id="13"/>
            <p:cNvSpPr/>
            <p:nvPr/>
          </p:nvSpPr>
          <p:spPr>
            <a:xfrm flipH="false" flipV="false" rot="0">
              <a:off x="0" y="0"/>
              <a:ext cx="10351340" cy="4273525"/>
            </a:xfrm>
            <a:custGeom>
              <a:avLst/>
              <a:gdLst/>
              <a:ahLst/>
              <a:cxnLst/>
              <a:rect r="r" b="b" t="t" l="l"/>
              <a:pathLst>
                <a:path h="4273525" w="10351340">
                  <a:moveTo>
                    <a:pt x="0" y="0"/>
                  </a:moveTo>
                  <a:lnTo>
                    <a:pt x="10351340" y="0"/>
                  </a:lnTo>
                  <a:lnTo>
                    <a:pt x="10351340" y="4273525"/>
                  </a:lnTo>
                  <a:lnTo>
                    <a:pt x="0" y="42735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4" id="14"/>
            <p:cNvSpPr/>
            <p:nvPr/>
          </p:nvSpPr>
          <p:spPr>
            <a:xfrm flipH="false" flipV="false" rot="0">
              <a:off x="4747292" y="0"/>
              <a:ext cx="8126325" cy="4273525"/>
            </a:xfrm>
            <a:custGeom>
              <a:avLst/>
              <a:gdLst/>
              <a:ahLst/>
              <a:cxnLst/>
              <a:rect r="r" b="b" t="t" l="l"/>
              <a:pathLst>
                <a:path h="4273525" w="8126325">
                  <a:moveTo>
                    <a:pt x="0" y="0"/>
                  </a:moveTo>
                  <a:lnTo>
                    <a:pt x="8126325" y="0"/>
                  </a:lnTo>
                  <a:lnTo>
                    <a:pt x="8126325" y="4273525"/>
                  </a:lnTo>
                  <a:lnTo>
                    <a:pt x="0" y="4273525"/>
                  </a:lnTo>
                  <a:lnTo>
                    <a:pt x="0" y="0"/>
                  </a:lnTo>
                  <a:close/>
                </a:path>
              </a:pathLst>
            </a:custGeom>
            <a:blipFill>
              <a:blip r:embed="rId6">
                <a:extLst>
                  <a:ext uri="{96DAC541-7B7A-43D3-8B79-37D633B846F1}">
                    <asvg:svgBlip xmlns:asvg="http://schemas.microsoft.com/office/drawing/2016/SVG/main" r:embed="rId7"/>
                  </a:ext>
                </a:extLst>
              </a:blip>
              <a:stretch>
                <a:fillRect l="-27380" t="0" r="0" b="0"/>
              </a:stretch>
            </a:blipFill>
            <a:ln cap="sq">
              <a:noFill/>
              <a:prstDash val="solid"/>
              <a:miter/>
            </a:ln>
          </p:spPr>
        </p:sp>
      </p:grpSp>
      <p:grpSp>
        <p:nvGrpSpPr>
          <p:cNvPr name="Group 15" id="15"/>
          <p:cNvGrpSpPr/>
          <p:nvPr/>
        </p:nvGrpSpPr>
        <p:grpSpPr>
          <a:xfrm rot="0">
            <a:off x="965437" y="6027476"/>
            <a:ext cx="1353545" cy="135354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4156"/>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1149884" y="3222024"/>
            <a:ext cx="5933192" cy="5891552"/>
            <a:chOff x="0" y="0"/>
            <a:chExt cx="7910922" cy="7855403"/>
          </a:xfrm>
        </p:grpSpPr>
        <p:grpSp>
          <p:nvGrpSpPr>
            <p:cNvPr name="Group 19" id="19"/>
            <p:cNvGrpSpPr/>
            <p:nvPr/>
          </p:nvGrpSpPr>
          <p:grpSpPr>
            <a:xfrm rot="0">
              <a:off x="378661" y="323141"/>
              <a:ext cx="7532262" cy="7532262"/>
              <a:chOff x="0" y="0"/>
              <a:chExt cx="1381760" cy="1381760"/>
            </a:xfrm>
          </p:grpSpPr>
          <p:sp>
            <p:nvSpPr>
              <p:cNvPr name="Freeform 20" id="20"/>
              <p:cNvSpPr/>
              <p:nvPr/>
            </p:nvSpPr>
            <p:spPr>
              <a:xfrm flipH="false" flipV="false" rot="0">
                <a:off x="0" y="0"/>
                <a:ext cx="1381760" cy="1381760"/>
              </a:xfrm>
              <a:custGeom>
                <a:avLst/>
                <a:gdLst/>
                <a:ahLst/>
                <a:cxnLst/>
                <a:rect r="r" b="b" t="t" l="l"/>
                <a:pathLst>
                  <a:path h="1381760" w="1381760">
                    <a:moveTo>
                      <a:pt x="110675" y="0"/>
                    </a:moveTo>
                    <a:lnTo>
                      <a:pt x="1271085" y="0"/>
                    </a:lnTo>
                    <a:cubicBezTo>
                      <a:pt x="1332209" y="0"/>
                      <a:pt x="1381760" y="49551"/>
                      <a:pt x="1381760" y="110675"/>
                    </a:cubicBezTo>
                    <a:lnTo>
                      <a:pt x="1381760" y="1271085"/>
                    </a:lnTo>
                    <a:cubicBezTo>
                      <a:pt x="1381760" y="1332209"/>
                      <a:pt x="1332209" y="1381760"/>
                      <a:pt x="1271085" y="1381760"/>
                    </a:cubicBezTo>
                    <a:lnTo>
                      <a:pt x="110675" y="1381760"/>
                    </a:lnTo>
                    <a:cubicBezTo>
                      <a:pt x="81322" y="1381760"/>
                      <a:pt x="53172" y="1370100"/>
                      <a:pt x="32416" y="1349344"/>
                    </a:cubicBezTo>
                    <a:cubicBezTo>
                      <a:pt x="11660" y="1328588"/>
                      <a:pt x="0" y="1300438"/>
                      <a:pt x="0" y="1271085"/>
                    </a:cubicBezTo>
                    <a:lnTo>
                      <a:pt x="0" y="110675"/>
                    </a:lnTo>
                    <a:cubicBezTo>
                      <a:pt x="0" y="49551"/>
                      <a:pt x="49551" y="0"/>
                      <a:pt x="110675" y="0"/>
                    </a:cubicBezTo>
                    <a:close/>
                  </a:path>
                </a:pathLst>
              </a:custGeom>
              <a:solidFill>
                <a:srgbClr val="2F4156"/>
              </a:solidFill>
            </p:spPr>
          </p:sp>
          <p:sp>
            <p:nvSpPr>
              <p:cNvPr name="TextBox 21" id="21"/>
              <p:cNvSpPr txBox="true"/>
              <p:nvPr/>
            </p:nvSpPr>
            <p:spPr>
              <a:xfrm>
                <a:off x="0" y="-38100"/>
                <a:ext cx="1381760" cy="141986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0" y="0"/>
              <a:ext cx="7532262" cy="7532262"/>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94443" y="0"/>
                    </a:moveTo>
                    <a:lnTo>
                      <a:pt x="718357" y="0"/>
                    </a:lnTo>
                    <a:cubicBezTo>
                      <a:pt x="743405" y="0"/>
                      <a:pt x="767427" y="9950"/>
                      <a:pt x="785138" y="27662"/>
                    </a:cubicBezTo>
                    <a:cubicBezTo>
                      <a:pt x="802850" y="45373"/>
                      <a:pt x="812800" y="69395"/>
                      <a:pt x="812800" y="94443"/>
                    </a:cubicBezTo>
                    <a:lnTo>
                      <a:pt x="812800" y="718357"/>
                    </a:lnTo>
                    <a:cubicBezTo>
                      <a:pt x="812800" y="743405"/>
                      <a:pt x="802850" y="767427"/>
                      <a:pt x="785138" y="785138"/>
                    </a:cubicBezTo>
                    <a:cubicBezTo>
                      <a:pt x="767427" y="802850"/>
                      <a:pt x="743405" y="812800"/>
                      <a:pt x="718357" y="812800"/>
                    </a:cubicBezTo>
                    <a:lnTo>
                      <a:pt x="94443" y="812800"/>
                    </a:lnTo>
                    <a:cubicBezTo>
                      <a:pt x="69395" y="812800"/>
                      <a:pt x="45373" y="802850"/>
                      <a:pt x="27662" y="785138"/>
                    </a:cubicBezTo>
                    <a:cubicBezTo>
                      <a:pt x="9950" y="767427"/>
                      <a:pt x="0" y="743405"/>
                      <a:pt x="0" y="718357"/>
                    </a:cubicBezTo>
                    <a:lnTo>
                      <a:pt x="0" y="94443"/>
                    </a:lnTo>
                    <a:cubicBezTo>
                      <a:pt x="0" y="69395"/>
                      <a:pt x="9950" y="45373"/>
                      <a:pt x="27662" y="27662"/>
                    </a:cubicBezTo>
                    <a:cubicBezTo>
                      <a:pt x="45373" y="9950"/>
                      <a:pt x="69395" y="0"/>
                      <a:pt x="94443" y="0"/>
                    </a:cubicBezTo>
                    <a:close/>
                  </a:path>
                </a:pathLst>
              </a:custGeom>
              <a:blipFill>
                <a:blip r:embed="rId8"/>
                <a:stretch>
                  <a:fillRect l="-48832" t="0" r="-1261" b="0"/>
                </a:stretch>
              </a:blipFill>
              <a:ln w="66675" cap="rnd">
                <a:solidFill>
                  <a:srgbClr val="2F4156"/>
                </a:solidFill>
                <a:prstDash val="solid"/>
                <a:round/>
              </a:ln>
            </p:spPr>
          </p:sp>
        </p:grpSp>
      </p:grpSp>
      <p:sp>
        <p:nvSpPr>
          <p:cNvPr name="Freeform 24" id="24"/>
          <p:cNvSpPr/>
          <p:nvPr/>
        </p:nvSpPr>
        <p:spPr>
          <a:xfrm flipH="false" flipV="false" rot="0">
            <a:off x="15304149" y="589570"/>
            <a:ext cx="2256600" cy="2240188"/>
          </a:xfrm>
          <a:custGeom>
            <a:avLst/>
            <a:gdLst/>
            <a:ahLst/>
            <a:cxnLst/>
            <a:rect r="r" b="b" t="t" l="l"/>
            <a:pathLst>
              <a:path h="2240188" w="2256600">
                <a:moveTo>
                  <a:pt x="0" y="0"/>
                </a:moveTo>
                <a:lnTo>
                  <a:pt x="2256600" y="0"/>
                </a:lnTo>
                <a:lnTo>
                  <a:pt x="2256600" y="2240189"/>
                </a:lnTo>
                <a:lnTo>
                  <a:pt x="0" y="22401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25" id="25"/>
          <p:cNvSpPr txBox="true"/>
          <p:nvPr/>
        </p:nvSpPr>
        <p:spPr>
          <a:xfrm rot="0">
            <a:off x="1642210" y="1064822"/>
            <a:ext cx="4449371" cy="1146810"/>
          </a:xfrm>
          <a:prstGeom prst="rect">
            <a:avLst/>
          </a:prstGeom>
        </p:spPr>
        <p:txBody>
          <a:bodyPr anchor="t" rtlCol="false" tIns="0" lIns="0" bIns="0" rIns="0">
            <a:spAutoFit/>
          </a:bodyPr>
          <a:lstStyle/>
          <a:p>
            <a:pPr algn="ctr">
              <a:lnSpc>
                <a:spcPts val="9239"/>
              </a:lnSpc>
            </a:pPr>
            <a:r>
              <a:rPr lang="en-US" sz="6599">
                <a:solidFill>
                  <a:srgbClr val="2F4156"/>
                </a:solidFill>
                <a:latin typeface="Marykate"/>
                <a:ea typeface="Marykate"/>
                <a:cs typeface="Marykate"/>
                <a:sym typeface="Marykate"/>
              </a:rPr>
              <a:t>Solutions </a:t>
            </a:r>
          </a:p>
        </p:txBody>
      </p:sp>
      <p:sp>
        <p:nvSpPr>
          <p:cNvPr name="TextBox 26" id="26"/>
          <p:cNvSpPr txBox="true"/>
          <p:nvPr/>
        </p:nvSpPr>
        <p:spPr>
          <a:xfrm rot="0">
            <a:off x="2038118" y="2970014"/>
            <a:ext cx="8549494" cy="2628138"/>
          </a:xfrm>
          <a:prstGeom prst="rect">
            <a:avLst/>
          </a:prstGeom>
        </p:spPr>
        <p:txBody>
          <a:bodyPr anchor="t" rtlCol="false" tIns="0" lIns="0" bIns="0" rIns="0">
            <a:spAutoFit/>
          </a:bodyPr>
          <a:lstStyle/>
          <a:p>
            <a:pPr algn="l" marL="777238" indent="-388619" lvl="1">
              <a:lnSpc>
                <a:spcPts val="4175"/>
              </a:lnSpc>
              <a:buFont typeface="Arial"/>
              <a:buChar char="•"/>
            </a:pPr>
            <a:r>
              <a:rPr lang="en-US" sz="3599">
                <a:solidFill>
                  <a:srgbClr val="2F4156"/>
                </a:solidFill>
                <a:latin typeface="KG Primary Penmanship"/>
                <a:ea typeface="KG Primary Penmanship"/>
                <a:cs typeface="KG Primary Penmanship"/>
                <a:sym typeface="KG Primary Penmanship"/>
              </a:rPr>
              <a:t>AI model predicts future energy consumption accurately</a:t>
            </a:r>
          </a:p>
          <a:p>
            <a:pPr algn="l" marL="777238" indent="-388619" lvl="1">
              <a:lnSpc>
                <a:spcPts val="4175"/>
              </a:lnSpc>
              <a:buFont typeface="Arial"/>
              <a:buChar char="•"/>
            </a:pPr>
            <a:r>
              <a:rPr lang="en-US" sz="3599">
                <a:solidFill>
                  <a:srgbClr val="2F4156"/>
                </a:solidFill>
                <a:latin typeface="KG Primary Penmanship"/>
                <a:ea typeface="KG Primary Penmanship"/>
                <a:cs typeface="KG Primary Penmanship"/>
                <a:sym typeface="KG Primary Penmanship"/>
              </a:rPr>
              <a:t>Interactive dashboard for real-time monitoring &amp; visualization</a:t>
            </a:r>
          </a:p>
          <a:p>
            <a:pPr algn="l" marL="777238" indent="-388619" lvl="1">
              <a:lnSpc>
                <a:spcPts val="4175"/>
              </a:lnSpc>
              <a:buFont typeface="Arial"/>
              <a:buChar char="•"/>
            </a:pPr>
            <a:r>
              <a:rPr lang="en-US" sz="3599">
                <a:solidFill>
                  <a:srgbClr val="2F4156"/>
                </a:solidFill>
                <a:latin typeface="KG Primary Penmanship"/>
                <a:ea typeface="KG Primary Penmanship"/>
                <a:cs typeface="KG Primary Penmanship"/>
                <a:sym typeface="KG Primary Penmanship"/>
              </a:rPr>
              <a:t>Cleaned and processed data for reliable analysis</a:t>
            </a:r>
          </a:p>
        </p:txBody>
      </p:sp>
      <p:sp>
        <p:nvSpPr>
          <p:cNvPr name="TextBox 27" id="27"/>
          <p:cNvSpPr txBox="true"/>
          <p:nvPr/>
        </p:nvSpPr>
        <p:spPr>
          <a:xfrm rot="0">
            <a:off x="1179804" y="2662113"/>
            <a:ext cx="858314" cy="1283422"/>
          </a:xfrm>
          <a:prstGeom prst="rect">
            <a:avLst/>
          </a:prstGeom>
        </p:spPr>
        <p:txBody>
          <a:bodyPr anchor="t" rtlCol="false" tIns="0" lIns="0" bIns="0" rIns="0">
            <a:spAutoFit/>
          </a:bodyPr>
          <a:lstStyle/>
          <a:p>
            <a:pPr algn="ctr">
              <a:lnSpc>
                <a:spcPts val="10409"/>
              </a:lnSpc>
            </a:pPr>
            <a:r>
              <a:rPr lang="en-US" sz="7435">
                <a:solidFill>
                  <a:srgbClr val="F3EEEB"/>
                </a:solidFill>
                <a:latin typeface="Marykate"/>
                <a:ea typeface="Marykate"/>
                <a:cs typeface="Marykate"/>
                <a:sym typeface="Marykate"/>
              </a:rPr>
              <a:t>1</a:t>
            </a:r>
          </a:p>
        </p:txBody>
      </p:sp>
      <p:sp>
        <p:nvSpPr>
          <p:cNvPr name="TextBox 28" id="28"/>
          <p:cNvSpPr txBox="true"/>
          <p:nvPr/>
        </p:nvSpPr>
        <p:spPr>
          <a:xfrm rot="0">
            <a:off x="2178550" y="6412583"/>
            <a:ext cx="8268630" cy="2628138"/>
          </a:xfrm>
          <a:prstGeom prst="rect">
            <a:avLst/>
          </a:prstGeom>
        </p:spPr>
        <p:txBody>
          <a:bodyPr anchor="t" rtlCol="false" tIns="0" lIns="0" bIns="0" rIns="0">
            <a:spAutoFit/>
          </a:bodyPr>
          <a:lstStyle/>
          <a:p>
            <a:pPr algn="l" marL="777238" indent="-388619" lvl="1">
              <a:lnSpc>
                <a:spcPts val="4175"/>
              </a:lnSpc>
              <a:buFont typeface="Arial"/>
              <a:buChar char="•"/>
            </a:pPr>
            <a:r>
              <a:rPr lang="en-US" sz="3599">
                <a:solidFill>
                  <a:srgbClr val="2F4156"/>
                </a:solidFill>
                <a:latin typeface="KG Primary Penmanship"/>
                <a:ea typeface="KG Primary Penmanship"/>
                <a:cs typeface="KG Primary Penmanship"/>
                <a:sym typeface="KG Primary Penmanship"/>
              </a:rPr>
              <a:t> Trend detection using charts and usage patterns</a:t>
            </a:r>
          </a:p>
          <a:p>
            <a:pPr algn="l" marL="777238" indent="-388619" lvl="1">
              <a:lnSpc>
                <a:spcPts val="4175"/>
              </a:lnSpc>
              <a:buFont typeface="Arial"/>
              <a:buChar char="•"/>
            </a:pPr>
            <a:r>
              <a:rPr lang="en-US" sz="3599">
                <a:solidFill>
                  <a:srgbClr val="2F4156"/>
                </a:solidFill>
                <a:latin typeface="KG Primary Penmanship"/>
                <a:ea typeface="KG Primary Penmanship"/>
                <a:cs typeface="KG Primary Penmanship"/>
                <a:sym typeface="KG Primary Penmanship"/>
              </a:rPr>
              <a:t> Alerts for abnormal or high consumption levels</a:t>
            </a:r>
          </a:p>
          <a:p>
            <a:pPr algn="l" marL="777238" indent="-388619" lvl="1">
              <a:lnSpc>
                <a:spcPts val="4175"/>
              </a:lnSpc>
              <a:buFont typeface="Arial"/>
              <a:buChar char="•"/>
            </a:pPr>
            <a:r>
              <a:rPr lang="en-US" sz="3599">
                <a:solidFill>
                  <a:srgbClr val="2F4156"/>
                </a:solidFill>
                <a:latin typeface="KG Primary Penmanship"/>
                <a:ea typeface="KG Primary Penmanship"/>
                <a:cs typeface="KG Primary Penmanship"/>
                <a:sym typeface="KG Primary Penmanship"/>
              </a:rPr>
              <a:t> Smart recommendations for energy optimization</a:t>
            </a:r>
          </a:p>
        </p:txBody>
      </p:sp>
      <p:sp>
        <p:nvSpPr>
          <p:cNvPr name="TextBox 29" id="29"/>
          <p:cNvSpPr txBox="true"/>
          <p:nvPr/>
        </p:nvSpPr>
        <p:spPr>
          <a:xfrm rot="0">
            <a:off x="1179804" y="5986338"/>
            <a:ext cx="858314" cy="1283422"/>
          </a:xfrm>
          <a:prstGeom prst="rect">
            <a:avLst/>
          </a:prstGeom>
        </p:spPr>
        <p:txBody>
          <a:bodyPr anchor="t" rtlCol="false" tIns="0" lIns="0" bIns="0" rIns="0">
            <a:spAutoFit/>
          </a:bodyPr>
          <a:lstStyle/>
          <a:p>
            <a:pPr algn="ctr">
              <a:lnSpc>
                <a:spcPts val="10409"/>
              </a:lnSpc>
            </a:pPr>
            <a:r>
              <a:rPr lang="en-US" sz="7435">
                <a:solidFill>
                  <a:srgbClr val="F3EEEB"/>
                </a:solidFill>
                <a:latin typeface="Marykate"/>
                <a:ea typeface="Marykate"/>
                <a:cs typeface="Marykate"/>
                <a:sym typeface="Marykate"/>
              </a:rPr>
              <a:t>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6D8E4"/>
        </a:solidFill>
      </p:bgPr>
    </p:bg>
    <p:spTree>
      <p:nvGrpSpPr>
        <p:cNvPr id="1" name=""/>
        <p:cNvGrpSpPr/>
        <p:nvPr/>
      </p:nvGrpSpPr>
      <p:grpSpPr>
        <a:xfrm>
          <a:off x="0" y="0"/>
          <a:ext cx="0" cy="0"/>
          <a:chOff x="0" y="0"/>
          <a:chExt cx="0" cy="0"/>
        </a:xfrm>
      </p:grpSpPr>
      <p:grpSp>
        <p:nvGrpSpPr>
          <p:cNvPr name="Group 2" id="2"/>
          <p:cNvGrpSpPr/>
          <p:nvPr/>
        </p:nvGrpSpPr>
        <p:grpSpPr>
          <a:xfrm rot="0">
            <a:off x="0" y="0"/>
            <a:ext cx="20554950" cy="10287000"/>
            <a:chOff x="0" y="0"/>
            <a:chExt cx="274066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06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203447" y="1286960"/>
            <a:ext cx="7413197" cy="1866939"/>
          </a:xfrm>
          <a:custGeom>
            <a:avLst/>
            <a:gdLst/>
            <a:ahLst/>
            <a:cxnLst/>
            <a:rect r="r" b="b" t="t" l="l"/>
            <a:pathLst>
              <a:path h="1866939" w="7413197">
                <a:moveTo>
                  <a:pt x="0" y="0"/>
                </a:moveTo>
                <a:lnTo>
                  <a:pt x="7413197" y="0"/>
                </a:lnTo>
                <a:lnTo>
                  <a:pt x="7413197" y="1866939"/>
                </a:lnTo>
                <a:lnTo>
                  <a:pt x="0" y="18669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526320" y="1344110"/>
            <a:ext cx="6412283" cy="1511740"/>
          </a:xfrm>
          <a:prstGeom prst="rect">
            <a:avLst/>
          </a:prstGeom>
        </p:spPr>
        <p:txBody>
          <a:bodyPr anchor="t" rtlCol="false" tIns="0" lIns="0" bIns="0" rIns="0">
            <a:spAutoFit/>
          </a:bodyPr>
          <a:lstStyle/>
          <a:p>
            <a:pPr algn="ctr">
              <a:lnSpc>
                <a:spcPts val="5881"/>
              </a:lnSpc>
            </a:pPr>
            <a:r>
              <a:rPr lang="en-US" sz="5445">
                <a:solidFill>
                  <a:srgbClr val="2F4156"/>
                </a:solidFill>
                <a:latin typeface="Marykate"/>
                <a:ea typeface="Marykate"/>
                <a:cs typeface="Marykate"/>
                <a:sym typeface="Marykate"/>
              </a:rPr>
              <a:t>Model Performance &amp; Results</a:t>
            </a:r>
          </a:p>
        </p:txBody>
      </p:sp>
      <p:sp>
        <p:nvSpPr>
          <p:cNvPr name="Freeform 7" id="7"/>
          <p:cNvSpPr/>
          <p:nvPr/>
        </p:nvSpPr>
        <p:spPr>
          <a:xfrm flipH="false" flipV="false" rot="0">
            <a:off x="1005161" y="3401549"/>
            <a:ext cx="8138839" cy="5828596"/>
          </a:xfrm>
          <a:custGeom>
            <a:avLst/>
            <a:gdLst/>
            <a:ahLst/>
            <a:cxnLst/>
            <a:rect r="r" b="b" t="t" l="l"/>
            <a:pathLst>
              <a:path h="5828596" w="8138839">
                <a:moveTo>
                  <a:pt x="0" y="0"/>
                </a:moveTo>
                <a:lnTo>
                  <a:pt x="8138839" y="0"/>
                </a:lnTo>
                <a:lnTo>
                  <a:pt x="8138839" y="5828596"/>
                </a:lnTo>
                <a:lnTo>
                  <a:pt x="0" y="58285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8" id="8"/>
          <p:cNvSpPr txBox="true"/>
          <p:nvPr/>
        </p:nvSpPr>
        <p:spPr>
          <a:xfrm rot="0">
            <a:off x="848279" y="3803401"/>
            <a:ext cx="7768365" cy="4606290"/>
          </a:xfrm>
          <a:prstGeom prst="rect">
            <a:avLst/>
          </a:prstGeom>
        </p:spPr>
        <p:txBody>
          <a:bodyPr anchor="t" rtlCol="false" tIns="0" lIns="0" bIns="0" rIns="0">
            <a:spAutoFit/>
          </a:bodyPr>
          <a:lstStyle/>
          <a:p>
            <a:pPr algn="just" marL="777240" indent="-388620" lvl="1">
              <a:lnSpc>
                <a:spcPts val="3600"/>
              </a:lnSpc>
              <a:buFont typeface="Arial"/>
              <a:buChar char="•"/>
            </a:pPr>
            <a:r>
              <a:rPr lang="en-US" sz="3600">
                <a:solidFill>
                  <a:srgbClr val="2F4156"/>
                </a:solidFill>
                <a:latin typeface="KG Primary Penmanship"/>
                <a:ea typeface="KG Primary Penmanship"/>
                <a:cs typeface="KG Primary Penmanship"/>
                <a:sym typeface="KG Primary Penmanship"/>
              </a:rPr>
              <a:t>The system analyzes household energy data and predicts consumption using ML and deep learning models.</a:t>
            </a:r>
          </a:p>
          <a:p>
            <a:pPr algn="just">
              <a:lnSpc>
                <a:spcPts val="3600"/>
              </a:lnSpc>
            </a:pPr>
          </a:p>
          <a:p>
            <a:pPr algn="just" marL="777240" indent="-388620" lvl="1">
              <a:lnSpc>
                <a:spcPts val="3600"/>
              </a:lnSpc>
              <a:buFont typeface="Arial"/>
              <a:buChar char="•"/>
            </a:pPr>
            <a:r>
              <a:rPr lang="en-US" sz="3600">
                <a:solidFill>
                  <a:srgbClr val="2F4156"/>
                </a:solidFill>
                <a:latin typeface="KG Primary Penmanship"/>
                <a:ea typeface="KG Primary Penmanship"/>
                <a:cs typeface="KG Primary Penmanship"/>
                <a:sym typeface="KG Primary Penmanship"/>
              </a:rPr>
              <a:t>Linear Regression provides a reliable baseline, while LSTM captures time-series patterns.</a:t>
            </a:r>
          </a:p>
          <a:p>
            <a:pPr algn="just">
              <a:lnSpc>
                <a:spcPts val="3600"/>
              </a:lnSpc>
            </a:pPr>
          </a:p>
          <a:p>
            <a:pPr algn="just" marL="777240" indent="-388620" lvl="1">
              <a:lnSpc>
                <a:spcPts val="3600"/>
              </a:lnSpc>
              <a:buFont typeface="Arial"/>
              <a:buChar char="•"/>
            </a:pPr>
            <a:r>
              <a:rPr lang="en-US" sz="3600">
                <a:solidFill>
                  <a:srgbClr val="2F4156"/>
                </a:solidFill>
                <a:latin typeface="KG Primary Penmanship"/>
                <a:ea typeface="KG Primary Penmanship"/>
                <a:cs typeface="KG Primary Penmanship"/>
                <a:sym typeface="KG Primary Penmanship"/>
              </a:rPr>
              <a:t>The final solution delivers real-time predictions, detects high usage, and suggests optimizations for efficient monitoring.</a:t>
            </a:r>
          </a:p>
        </p:txBody>
      </p:sp>
      <p:grpSp>
        <p:nvGrpSpPr>
          <p:cNvPr name="Group 9" id="9"/>
          <p:cNvGrpSpPr/>
          <p:nvPr/>
        </p:nvGrpSpPr>
        <p:grpSpPr>
          <a:xfrm rot="0">
            <a:off x="9309222" y="1286960"/>
            <a:ext cx="8037827" cy="7971340"/>
            <a:chOff x="0" y="0"/>
            <a:chExt cx="10717103" cy="10628453"/>
          </a:xfrm>
        </p:grpSpPr>
        <p:sp>
          <p:nvSpPr>
            <p:cNvPr name="Freeform 10" id="10"/>
            <p:cNvSpPr/>
            <p:nvPr/>
          </p:nvSpPr>
          <p:spPr>
            <a:xfrm flipH="false" flipV="false" rot="0">
              <a:off x="0" y="2953444"/>
              <a:ext cx="10717103" cy="7675009"/>
            </a:xfrm>
            <a:custGeom>
              <a:avLst/>
              <a:gdLst/>
              <a:ahLst/>
              <a:cxnLst/>
              <a:rect r="r" b="b" t="t" l="l"/>
              <a:pathLst>
                <a:path h="7675009" w="10717103">
                  <a:moveTo>
                    <a:pt x="0" y="0"/>
                  </a:moveTo>
                  <a:lnTo>
                    <a:pt x="10717103" y="0"/>
                  </a:lnTo>
                  <a:lnTo>
                    <a:pt x="10717103" y="7675009"/>
                  </a:lnTo>
                  <a:lnTo>
                    <a:pt x="0" y="76750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1" id="11"/>
            <p:cNvSpPr/>
            <p:nvPr/>
          </p:nvSpPr>
          <p:spPr>
            <a:xfrm flipH="false" flipV="false" rot="0">
              <a:off x="0" y="0"/>
              <a:ext cx="10717103" cy="5285334"/>
            </a:xfrm>
            <a:custGeom>
              <a:avLst/>
              <a:gdLst/>
              <a:ahLst/>
              <a:cxnLst/>
              <a:rect r="r" b="b" t="t" l="l"/>
              <a:pathLst>
                <a:path h="5285334" w="10717103">
                  <a:moveTo>
                    <a:pt x="0" y="0"/>
                  </a:moveTo>
                  <a:lnTo>
                    <a:pt x="10717103" y="0"/>
                  </a:lnTo>
                  <a:lnTo>
                    <a:pt x="10717103" y="5285334"/>
                  </a:lnTo>
                  <a:lnTo>
                    <a:pt x="0" y="5285334"/>
                  </a:lnTo>
                  <a:lnTo>
                    <a:pt x="0" y="0"/>
                  </a:lnTo>
                  <a:close/>
                </a:path>
              </a:pathLst>
            </a:custGeom>
            <a:blipFill>
              <a:blip r:embed="rId6">
                <a:extLst>
                  <a:ext uri="{96DAC541-7B7A-43D3-8B79-37D633B846F1}">
                    <asvg:svgBlip xmlns:asvg="http://schemas.microsoft.com/office/drawing/2016/SVG/main" r:embed="rId7"/>
                  </a:ext>
                </a:extLst>
              </a:blip>
              <a:stretch>
                <a:fillRect l="0" t="0" r="0" b="-45213"/>
              </a:stretch>
            </a:blipFill>
            <a:ln cap="sq">
              <a:noFill/>
              <a:prstDash val="solid"/>
              <a:miter/>
            </a:ln>
          </p:spPr>
        </p:sp>
      </p:grpSp>
      <p:pic>
        <p:nvPicPr>
          <p:cNvPr name="Picture 12" id="12"/>
          <p:cNvPicPr>
            <a:picLocks noChangeAspect="true"/>
          </p:cNvPicPr>
          <p:nvPr/>
        </p:nvPicPr>
        <p:blipFill>
          <a:blip r:embed="rId8"/>
          <a:stretch>
            <a:fillRect/>
          </a:stretch>
        </p:blipFill>
        <p:spPr>
          <a:xfrm rot="0">
            <a:off x="9086538" y="946678"/>
            <a:ext cx="7889433" cy="8141468"/>
          </a:xfrm>
          <a:prstGeom prst="rect">
            <a:avLst/>
          </a:prstGeom>
        </p:spPr>
      </p:pic>
      <p:sp>
        <p:nvSpPr>
          <p:cNvPr name="Freeform 13" id="13"/>
          <p:cNvSpPr/>
          <p:nvPr/>
        </p:nvSpPr>
        <p:spPr>
          <a:xfrm flipH="false" flipV="false" rot="0">
            <a:off x="15267364" y="8819737"/>
            <a:ext cx="3020636" cy="1427937"/>
          </a:xfrm>
          <a:custGeom>
            <a:avLst/>
            <a:gdLst/>
            <a:ahLst/>
            <a:cxnLst/>
            <a:rect r="r" b="b" t="t" l="l"/>
            <a:pathLst>
              <a:path h="1427937" w="3020636">
                <a:moveTo>
                  <a:pt x="0" y="0"/>
                </a:moveTo>
                <a:lnTo>
                  <a:pt x="3020636" y="0"/>
                </a:lnTo>
                <a:lnTo>
                  <a:pt x="3020636" y="1427937"/>
                </a:lnTo>
                <a:lnTo>
                  <a:pt x="0" y="142793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4" id="14"/>
          <p:cNvSpPr/>
          <p:nvPr/>
        </p:nvSpPr>
        <p:spPr>
          <a:xfrm flipH="false" flipV="false" rot="0">
            <a:off x="0" y="0"/>
            <a:ext cx="3020636" cy="1427937"/>
          </a:xfrm>
          <a:custGeom>
            <a:avLst/>
            <a:gdLst/>
            <a:ahLst/>
            <a:cxnLst/>
            <a:rect r="r" b="b" t="t" l="l"/>
            <a:pathLst>
              <a:path h="1427937" w="3020636">
                <a:moveTo>
                  <a:pt x="0" y="0"/>
                </a:moveTo>
                <a:lnTo>
                  <a:pt x="3020636" y="0"/>
                </a:lnTo>
                <a:lnTo>
                  <a:pt x="3020636" y="1427937"/>
                </a:lnTo>
                <a:lnTo>
                  <a:pt x="0" y="142793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15" id="15"/>
          <p:cNvSpPr txBox="true"/>
          <p:nvPr/>
        </p:nvSpPr>
        <p:spPr>
          <a:xfrm rot="0">
            <a:off x="10245160" y="8333491"/>
            <a:ext cx="6532522" cy="533398"/>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Marykate"/>
                <a:ea typeface="Marykate"/>
                <a:cs typeface="Marykate"/>
                <a:sym typeface="Marykate"/>
              </a:rPr>
              <a:t>L</a:t>
            </a:r>
            <a:r>
              <a:rPr lang="en-US" sz="3000">
                <a:solidFill>
                  <a:srgbClr val="000000"/>
                </a:solidFill>
                <a:latin typeface="Marykate"/>
                <a:ea typeface="Marykate"/>
                <a:cs typeface="Marykate"/>
                <a:sym typeface="Marykate"/>
              </a:rPr>
              <a:t>ower RMSE = Better Performance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C6D8E4"/>
        </a:solidFill>
      </p:bgPr>
    </p:bg>
    <p:spTree>
      <p:nvGrpSpPr>
        <p:cNvPr id="1" name=""/>
        <p:cNvGrpSpPr/>
        <p:nvPr/>
      </p:nvGrpSpPr>
      <p:grpSpPr>
        <a:xfrm>
          <a:off x="0" y="0"/>
          <a:ext cx="0" cy="0"/>
          <a:chOff x="0" y="0"/>
          <a:chExt cx="0" cy="0"/>
        </a:xfrm>
      </p:grpSpPr>
      <p:grpSp>
        <p:nvGrpSpPr>
          <p:cNvPr name="Group 2" id="2"/>
          <p:cNvGrpSpPr/>
          <p:nvPr/>
        </p:nvGrpSpPr>
        <p:grpSpPr>
          <a:xfrm rot="0">
            <a:off x="0" y="0"/>
            <a:ext cx="20554950" cy="10287000"/>
            <a:chOff x="0" y="0"/>
            <a:chExt cx="274066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06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6447384" y="1218221"/>
            <a:ext cx="5674377" cy="1429035"/>
          </a:xfrm>
          <a:custGeom>
            <a:avLst/>
            <a:gdLst/>
            <a:ahLst/>
            <a:cxnLst/>
            <a:rect r="r" b="b" t="t" l="l"/>
            <a:pathLst>
              <a:path h="1429035" w="5674377">
                <a:moveTo>
                  <a:pt x="0" y="0"/>
                </a:moveTo>
                <a:lnTo>
                  <a:pt x="5674377" y="0"/>
                </a:lnTo>
                <a:lnTo>
                  <a:pt x="5674377" y="1429035"/>
                </a:lnTo>
                <a:lnTo>
                  <a:pt x="0" y="1429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42336" y="654224"/>
            <a:ext cx="2387531" cy="1879638"/>
          </a:xfrm>
          <a:custGeom>
            <a:avLst/>
            <a:gdLst/>
            <a:ahLst/>
            <a:cxnLst/>
            <a:rect r="r" b="b" t="t" l="l"/>
            <a:pathLst>
              <a:path h="1879638" w="2387531">
                <a:moveTo>
                  <a:pt x="0" y="0"/>
                </a:moveTo>
                <a:lnTo>
                  <a:pt x="2387531" y="0"/>
                </a:lnTo>
                <a:lnTo>
                  <a:pt x="2387531" y="1879638"/>
                </a:lnTo>
                <a:lnTo>
                  <a:pt x="0" y="18796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471201">
            <a:off x="16112351" y="538786"/>
            <a:ext cx="1884114" cy="2110514"/>
          </a:xfrm>
          <a:custGeom>
            <a:avLst/>
            <a:gdLst/>
            <a:ahLst/>
            <a:cxnLst/>
            <a:rect r="r" b="b" t="t" l="l"/>
            <a:pathLst>
              <a:path h="2110514" w="1884114">
                <a:moveTo>
                  <a:pt x="0" y="0"/>
                </a:moveTo>
                <a:lnTo>
                  <a:pt x="1884114" y="0"/>
                </a:lnTo>
                <a:lnTo>
                  <a:pt x="1884114" y="2110514"/>
                </a:lnTo>
                <a:lnTo>
                  <a:pt x="0" y="21105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grpSp>
        <p:nvGrpSpPr>
          <p:cNvPr name="Group 8" id="8"/>
          <p:cNvGrpSpPr/>
          <p:nvPr/>
        </p:nvGrpSpPr>
        <p:grpSpPr>
          <a:xfrm rot="0">
            <a:off x="1936102" y="3044159"/>
            <a:ext cx="15118306" cy="6774435"/>
            <a:chOff x="0" y="0"/>
            <a:chExt cx="1902466" cy="852485"/>
          </a:xfrm>
        </p:grpSpPr>
        <p:sp>
          <p:nvSpPr>
            <p:cNvPr name="Freeform 9" id="9"/>
            <p:cNvSpPr/>
            <p:nvPr/>
          </p:nvSpPr>
          <p:spPr>
            <a:xfrm flipH="false" flipV="false" rot="0">
              <a:off x="0" y="0"/>
              <a:ext cx="1902466" cy="852485"/>
            </a:xfrm>
            <a:custGeom>
              <a:avLst/>
              <a:gdLst/>
              <a:ahLst/>
              <a:cxnLst/>
              <a:rect r="r" b="b" t="t" l="l"/>
              <a:pathLst>
                <a:path h="852485" w="1902466">
                  <a:moveTo>
                    <a:pt x="1902466" y="35846"/>
                  </a:moveTo>
                  <a:lnTo>
                    <a:pt x="1902466" y="816639"/>
                  </a:lnTo>
                  <a:cubicBezTo>
                    <a:pt x="1902466" y="826146"/>
                    <a:pt x="1898689" y="835263"/>
                    <a:pt x="1891966" y="841986"/>
                  </a:cubicBezTo>
                  <a:cubicBezTo>
                    <a:pt x="1885244" y="848708"/>
                    <a:pt x="1876126" y="852485"/>
                    <a:pt x="1866619" y="852485"/>
                  </a:cubicBezTo>
                  <a:lnTo>
                    <a:pt x="35846" y="852485"/>
                  </a:lnTo>
                  <a:cubicBezTo>
                    <a:pt x="16049" y="852485"/>
                    <a:pt x="0" y="836436"/>
                    <a:pt x="0" y="816639"/>
                  </a:cubicBezTo>
                  <a:lnTo>
                    <a:pt x="0" y="35846"/>
                  </a:lnTo>
                  <a:cubicBezTo>
                    <a:pt x="0" y="26339"/>
                    <a:pt x="3777" y="17222"/>
                    <a:pt x="10499" y="10499"/>
                  </a:cubicBezTo>
                  <a:cubicBezTo>
                    <a:pt x="17222" y="3777"/>
                    <a:pt x="26339" y="0"/>
                    <a:pt x="35846" y="0"/>
                  </a:cubicBezTo>
                  <a:lnTo>
                    <a:pt x="1866619" y="0"/>
                  </a:lnTo>
                  <a:cubicBezTo>
                    <a:pt x="1876126" y="0"/>
                    <a:pt x="1885244" y="3777"/>
                    <a:pt x="1891966" y="10499"/>
                  </a:cubicBezTo>
                  <a:cubicBezTo>
                    <a:pt x="1898689" y="17222"/>
                    <a:pt x="1902466" y="26339"/>
                    <a:pt x="1902466" y="35846"/>
                  </a:cubicBezTo>
                  <a:close/>
                </a:path>
              </a:pathLst>
            </a:custGeom>
            <a:solidFill>
              <a:srgbClr val="F3EEEB"/>
            </a:solidFill>
            <a:ln w="133350" cap="rnd">
              <a:solidFill>
                <a:srgbClr val="2F4156"/>
              </a:solidFill>
              <a:prstDash val="solid"/>
              <a:round/>
            </a:ln>
          </p:spPr>
        </p:sp>
        <p:sp>
          <p:nvSpPr>
            <p:cNvPr name="TextBox 10" id="10"/>
            <p:cNvSpPr txBox="true"/>
            <p:nvPr/>
          </p:nvSpPr>
          <p:spPr>
            <a:xfrm>
              <a:off x="0" y="-38100"/>
              <a:ext cx="1902466" cy="89058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273359" y="3318464"/>
            <a:ext cx="6870641" cy="3031670"/>
          </a:xfrm>
          <a:custGeom>
            <a:avLst/>
            <a:gdLst/>
            <a:ahLst/>
            <a:cxnLst/>
            <a:rect r="r" b="b" t="t" l="l"/>
            <a:pathLst>
              <a:path h="3031670" w="6870641">
                <a:moveTo>
                  <a:pt x="0" y="0"/>
                </a:moveTo>
                <a:lnTo>
                  <a:pt x="6870641" y="0"/>
                </a:lnTo>
                <a:lnTo>
                  <a:pt x="6870641" y="3031670"/>
                </a:lnTo>
                <a:lnTo>
                  <a:pt x="0" y="3031670"/>
                </a:lnTo>
                <a:lnTo>
                  <a:pt x="0" y="0"/>
                </a:lnTo>
                <a:close/>
              </a:path>
            </a:pathLst>
          </a:custGeom>
          <a:blipFill>
            <a:blip r:embed="rId10"/>
            <a:stretch>
              <a:fillRect l="0" t="0" r="0" b="0"/>
            </a:stretch>
          </a:blipFill>
          <a:ln w="114300" cap="rnd">
            <a:solidFill>
              <a:srgbClr val="9E8D95"/>
            </a:solidFill>
            <a:prstDash val="solid"/>
            <a:round/>
          </a:ln>
        </p:spPr>
      </p:sp>
      <p:sp>
        <p:nvSpPr>
          <p:cNvPr name="Freeform 12" id="12"/>
          <p:cNvSpPr/>
          <p:nvPr/>
        </p:nvSpPr>
        <p:spPr>
          <a:xfrm flipH="false" flipV="false" rot="0">
            <a:off x="9691653" y="3318464"/>
            <a:ext cx="6869947" cy="3031670"/>
          </a:xfrm>
          <a:custGeom>
            <a:avLst/>
            <a:gdLst/>
            <a:ahLst/>
            <a:cxnLst/>
            <a:rect r="r" b="b" t="t" l="l"/>
            <a:pathLst>
              <a:path h="3031670" w="6869947">
                <a:moveTo>
                  <a:pt x="0" y="0"/>
                </a:moveTo>
                <a:lnTo>
                  <a:pt x="6869948" y="0"/>
                </a:lnTo>
                <a:lnTo>
                  <a:pt x="6869948" y="3031670"/>
                </a:lnTo>
                <a:lnTo>
                  <a:pt x="0" y="3031670"/>
                </a:lnTo>
                <a:lnTo>
                  <a:pt x="0" y="0"/>
                </a:lnTo>
                <a:close/>
              </a:path>
            </a:pathLst>
          </a:custGeom>
          <a:blipFill>
            <a:blip r:embed="rId11"/>
            <a:stretch>
              <a:fillRect l="0" t="-1552" r="0" b="-1552"/>
            </a:stretch>
          </a:blipFill>
          <a:ln w="114300" cap="rnd">
            <a:solidFill>
              <a:srgbClr val="9E8D95"/>
            </a:solidFill>
            <a:prstDash val="solid"/>
            <a:round/>
          </a:ln>
        </p:spPr>
      </p:sp>
      <p:sp>
        <p:nvSpPr>
          <p:cNvPr name="Freeform 13" id="13"/>
          <p:cNvSpPr/>
          <p:nvPr/>
        </p:nvSpPr>
        <p:spPr>
          <a:xfrm flipH="false" flipV="false" rot="0">
            <a:off x="2273359" y="6431377"/>
            <a:ext cx="6870641" cy="3110249"/>
          </a:xfrm>
          <a:custGeom>
            <a:avLst/>
            <a:gdLst/>
            <a:ahLst/>
            <a:cxnLst/>
            <a:rect r="r" b="b" t="t" l="l"/>
            <a:pathLst>
              <a:path h="3110249" w="6870641">
                <a:moveTo>
                  <a:pt x="0" y="0"/>
                </a:moveTo>
                <a:lnTo>
                  <a:pt x="6870641" y="0"/>
                </a:lnTo>
                <a:lnTo>
                  <a:pt x="6870641" y="3110249"/>
                </a:lnTo>
                <a:lnTo>
                  <a:pt x="0" y="3110249"/>
                </a:lnTo>
                <a:lnTo>
                  <a:pt x="0" y="0"/>
                </a:lnTo>
                <a:close/>
              </a:path>
            </a:pathLst>
          </a:custGeom>
          <a:blipFill>
            <a:blip r:embed="rId12"/>
            <a:stretch>
              <a:fillRect l="-263" t="-3168" r="0" b="-8405"/>
            </a:stretch>
          </a:blipFill>
          <a:ln w="114300" cap="rnd">
            <a:solidFill>
              <a:srgbClr val="9E8D95"/>
            </a:solidFill>
            <a:prstDash val="solid"/>
            <a:round/>
          </a:ln>
        </p:spPr>
      </p:sp>
      <p:sp>
        <p:nvSpPr>
          <p:cNvPr name="Freeform 14" id="14"/>
          <p:cNvSpPr/>
          <p:nvPr/>
        </p:nvSpPr>
        <p:spPr>
          <a:xfrm flipH="false" flipV="false" rot="0">
            <a:off x="9691653" y="6431377"/>
            <a:ext cx="6869947" cy="3110249"/>
          </a:xfrm>
          <a:custGeom>
            <a:avLst/>
            <a:gdLst/>
            <a:ahLst/>
            <a:cxnLst/>
            <a:rect r="r" b="b" t="t" l="l"/>
            <a:pathLst>
              <a:path h="3110249" w="6869947">
                <a:moveTo>
                  <a:pt x="0" y="0"/>
                </a:moveTo>
                <a:lnTo>
                  <a:pt x="6869948" y="0"/>
                </a:lnTo>
                <a:lnTo>
                  <a:pt x="6869948" y="3110249"/>
                </a:lnTo>
                <a:lnTo>
                  <a:pt x="0" y="3110249"/>
                </a:lnTo>
                <a:lnTo>
                  <a:pt x="0" y="0"/>
                </a:lnTo>
                <a:close/>
              </a:path>
            </a:pathLst>
          </a:custGeom>
          <a:blipFill>
            <a:blip r:embed="rId13"/>
            <a:stretch>
              <a:fillRect l="0" t="-6910" r="0" b="-2149"/>
            </a:stretch>
          </a:blipFill>
          <a:ln w="114300" cap="rnd">
            <a:solidFill>
              <a:srgbClr val="9E8D95"/>
            </a:solidFill>
            <a:prstDash val="solid"/>
            <a:round/>
          </a:ln>
        </p:spPr>
      </p:sp>
      <p:sp>
        <p:nvSpPr>
          <p:cNvPr name="TextBox 15" id="15"/>
          <p:cNvSpPr txBox="true"/>
          <p:nvPr/>
        </p:nvSpPr>
        <p:spPr>
          <a:xfrm rot="0">
            <a:off x="6486747" y="1671944"/>
            <a:ext cx="5314506" cy="731139"/>
          </a:xfrm>
          <a:prstGeom prst="rect">
            <a:avLst/>
          </a:prstGeom>
        </p:spPr>
        <p:txBody>
          <a:bodyPr anchor="t" rtlCol="false" tIns="0" lIns="0" bIns="0" rIns="0">
            <a:spAutoFit/>
          </a:bodyPr>
          <a:lstStyle/>
          <a:p>
            <a:pPr algn="ctr">
              <a:lnSpc>
                <a:spcPts val="5208"/>
              </a:lnSpc>
            </a:pPr>
            <a:r>
              <a:rPr lang="en-US" sz="6200">
                <a:solidFill>
                  <a:srgbClr val="2F4156"/>
                </a:solidFill>
                <a:latin typeface="Marykate"/>
                <a:ea typeface="Marykate"/>
                <a:cs typeface="Marykate"/>
                <a:sym typeface="Marykate"/>
              </a:rPr>
              <a:t> Dashboard Preview</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C6D8E4"/>
        </a:solidFill>
      </p:bgPr>
    </p:bg>
    <p:spTree>
      <p:nvGrpSpPr>
        <p:cNvPr id="1" name=""/>
        <p:cNvGrpSpPr/>
        <p:nvPr/>
      </p:nvGrpSpPr>
      <p:grpSpPr>
        <a:xfrm>
          <a:off x="0" y="0"/>
          <a:ext cx="0" cy="0"/>
          <a:chOff x="0" y="0"/>
          <a:chExt cx="0" cy="0"/>
        </a:xfrm>
      </p:grpSpPr>
      <p:grpSp>
        <p:nvGrpSpPr>
          <p:cNvPr name="Group 2" id="2"/>
          <p:cNvGrpSpPr/>
          <p:nvPr/>
        </p:nvGrpSpPr>
        <p:grpSpPr>
          <a:xfrm rot="0">
            <a:off x="0" y="0"/>
            <a:ext cx="20554950" cy="10287000"/>
            <a:chOff x="0" y="0"/>
            <a:chExt cx="274066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06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6447384" y="1443220"/>
            <a:ext cx="5393232" cy="1358231"/>
          </a:xfrm>
          <a:custGeom>
            <a:avLst/>
            <a:gdLst/>
            <a:ahLst/>
            <a:cxnLst/>
            <a:rect r="r" b="b" t="t" l="l"/>
            <a:pathLst>
              <a:path h="1358231" w="5393232">
                <a:moveTo>
                  <a:pt x="0" y="0"/>
                </a:moveTo>
                <a:lnTo>
                  <a:pt x="5393232" y="0"/>
                </a:lnTo>
                <a:lnTo>
                  <a:pt x="5393232" y="1358232"/>
                </a:lnTo>
                <a:lnTo>
                  <a:pt x="0" y="13582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457742" y="3228997"/>
            <a:ext cx="8419100" cy="6029303"/>
          </a:xfrm>
          <a:custGeom>
            <a:avLst/>
            <a:gdLst/>
            <a:ahLst/>
            <a:cxnLst/>
            <a:rect r="r" b="b" t="t" l="l"/>
            <a:pathLst>
              <a:path h="6029303" w="8419100">
                <a:moveTo>
                  <a:pt x="0" y="0"/>
                </a:moveTo>
                <a:lnTo>
                  <a:pt x="8419100" y="0"/>
                </a:lnTo>
                <a:lnTo>
                  <a:pt x="8419100" y="6029303"/>
                </a:lnTo>
                <a:lnTo>
                  <a:pt x="0" y="60293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8942062" y="3228997"/>
            <a:ext cx="6888196" cy="6020301"/>
          </a:xfrm>
          <a:custGeom>
            <a:avLst/>
            <a:gdLst/>
            <a:ahLst/>
            <a:cxnLst/>
            <a:rect r="r" b="b" t="t" l="l"/>
            <a:pathLst>
              <a:path h="6020301" w="6888196">
                <a:moveTo>
                  <a:pt x="0" y="0"/>
                </a:moveTo>
                <a:lnTo>
                  <a:pt x="6888196" y="0"/>
                </a:lnTo>
                <a:lnTo>
                  <a:pt x="6888196" y="6020301"/>
                </a:lnTo>
                <a:lnTo>
                  <a:pt x="0" y="6020301"/>
                </a:lnTo>
                <a:lnTo>
                  <a:pt x="0" y="0"/>
                </a:lnTo>
                <a:close/>
              </a:path>
            </a:pathLst>
          </a:custGeom>
          <a:blipFill>
            <a:blip r:embed="rId6">
              <a:extLst>
                <a:ext uri="{96DAC541-7B7A-43D3-8B79-37D633B846F1}">
                  <asvg:svgBlip xmlns:asvg="http://schemas.microsoft.com/office/drawing/2016/SVG/main" r:embed="rId7"/>
                </a:ext>
              </a:extLst>
            </a:blip>
            <a:stretch>
              <a:fillRect l="-22225" t="0" r="0" b="-149"/>
            </a:stretch>
          </a:blipFill>
          <a:ln cap="sq">
            <a:noFill/>
            <a:prstDash val="solid"/>
            <a:miter/>
          </a:ln>
        </p:spPr>
      </p:sp>
      <p:sp>
        <p:nvSpPr>
          <p:cNvPr name="Freeform 8" id="8"/>
          <p:cNvSpPr/>
          <p:nvPr/>
        </p:nvSpPr>
        <p:spPr>
          <a:xfrm flipH="false" flipV="false" rot="0">
            <a:off x="67716" y="8859063"/>
            <a:ext cx="3020636" cy="1427937"/>
          </a:xfrm>
          <a:custGeom>
            <a:avLst/>
            <a:gdLst/>
            <a:ahLst/>
            <a:cxnLst/>
            <a:rect r="r" b="b" t="t" l="l"/>
            <a:pathLst>
              <a:path h="1427937" w="3020636">
                <a:moveTo>
                  <a:pt x="0" y="0"/>
                </a:moveTo>
                <a:lnTo>
                  <a:pt x="3020636" y="0"/>
                </a:lnTo>
                <a:lnTo>
                  <a:pt x="3020636" y="1427937"/>
                </a:lnTo>
                <a:lnTo>
                  <a:pt x="0" y="142793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9" id="9"/>
          <p:cNvSpPr/>
          <p:nvPr/>
        </p:nvSpPr>
        <p:spPr>
          <a:xfrm flipH="false" flipV="false" rot="0">
            <a:off x="14680195" y="640455"/>
            <a:ext cx="2579105" cy="1950741"/>
          </a:xfrm>
          <a:custGeom>
            <a:avLst/>
            <a:gdLst/>
            <a:ahLst/>
            <a:cxnLst/>
            <a:rect r="r" b="b" t="t" l="l"/>
            <a:pathLst>
              <a:path h="1950741" w="2579105">
                <a:moveTo>
                  <a:pt x="0" y="0"/>
                </a:moveTo>
                <a:lnTo>
                  <a:pt x="2579105" y="0"/>
                </a:lnTo>
                <a:lnTo>
                  <a:pt x="2579105" y="1950741"/>
                </a:lnTo>
                <a:lnTo>
                  <a:pt x="0" y="19507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0" id="10"/>
          <p:cNvSpPr/>
          <p:nvPr/>
        </p:nvSpPr>
        <p:spPr>
          <a:xfrm flipH="false" flipV="false" rot="0">
            <a:off x="15338302" y="6760928"/>
            <a:ext cx="1262890" cy="2812104"/>
          </a:xfrm>
          <a:custGeom>
            <a:avLst/>
            <a:gdLst/>
            <a:ahLst/>
            <a:cxnLst/>
            <a:rect r="r" b="b" t="t" l="l"/>
            <a:pathLst>
              <a:path h="2812104" w="1262890">
                <a:moveTo>
                  <a:pt x="0" y="0"/>
                </a:moveTo>
                <a:lnTo>
                  <a:pt x="1262890" y="0"/>
                </a:lnTo>
                <a:lnTo>
                  <a:pt x="1262890" y="2812103"/>
                </a:lnTo>
                <a:lnTo>
                  <a:pt x="0" y="281210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11" id="11"/>
          <p:cNvSpPr txBox="true"/>
          <p:nvPr/>
        </p:nvSpPr>
        <p:spPr>
          <a:xfrm rot="0">
            <a:off x="2668985" y="4144028"/>
            <a:ext cx="12546154" cy="4199763"/>
          </a:xfrm>
          <a:prstGeom prst="rect">
            <a:avLst/>
          </a:prstGeom>
        </p:spPr>
        <p:txBody>
          <a:bodyPr anchor="t" rtlCol="false" tIns="0" lIns="0" bIns="0" rIns="0">
            <a:spAutoFit/>
          </a:bodyPr>
          <a:lstStyle/>
          <a:p>
            <a:pPr algn="just">
              <a:lnSpc>
                <a:spcPts val="4175"/>
              </a:lnSpc>
            </a:pPr>
            <a:r>
              <a:rPr lang="en-US" sz="3599">
                <a:solidFill>
                  <a:srgbClr val="2F4156"/>
                </a:solidFill>
                <a:latin typeface="KG Primary Penmanship"/>
                <a:ea typeface="KG Primary Penmanship"/>
                <a:cs typeface="KG Primary Penmanship"/>
                <a:sym typeface="KG Primary Penmanship"/>
              </a:rPr>
              <a:t>This project successfully developed an end-to-end smart energy prediction system that analyzes real household electricity consumption data using machine learning and deep learning models. By comparing multiple approaches with RMSE evaluation, the most effective model was identified and integrated into an interactive dashboard that provides real-time predictions, visual insights, and intelligent energy-saving recommendations. The system demonstrates how AI can transform raw power usage data into meaningful insights, offering a scalable solution for efficient and intelligent energy monitoring.</a:t>
            </a:r>
          </a:p>
        </p:txBody>
      </p:sp>
      <p:sp>
        <p:nvSpPr>
          <p:cNvPr name="Freeform 12" id="12"/>
          <p:cNvSpPr/>
          <p:nvPr/>
        </p:nvSpPr>
        <p:spPr>
          <a:xfrm flipH="false" flipV="false" rot="0">
            <a:off x="612876" y="970003"/>
            <a:ext cx="1844866" cy="1831449"/>
          </a:xfrm>
          <a:custGeom>
            <a:avLst/>
            <a:gdLst/>
            <a:ahLst/>
            <a:cxnLst/>
            <a:rect r="r" b="b" t="t" l="l"/>
            <a:pathLst>
              <a:path h="1831449" w="1844866">
                <a:moveTo>
                  <a:pt x="0" y="0"/>
                </a:moveTo>
                <a:lnTo>
                  <a:pt x="1844866" y="0"/>
                </a:lnTo>
                <a:lnTo>
                  <a:pt x="1844866" y="1831449"/>
                </a:lnTo>
                <a:lnTo>
                  <a:pt x="0" y="18314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TextBox 13" id="13"/>
          <p:cNvSpPr txBox="true"/>
          <p:nvPr/>
        </p:nvSpPr>
        <p:spPr>
          <a:xfrm rot="0">
            <a:off x="6599909" y="1325093"/>
            <a:ext cx="5088183" cy="1146810"/>
          </a:xfrm>
          <a:prstGeom prst="rect">
            <a:avLst/>
          </a:prstGeom>
        </p:spPr>
        <p:txBody>
          <a:bodyPr anchor="t" rtlCol="false" tIns="0" lIns="0" bIns="0" rIns="0">
            <a:spAutoFit/>
          </a:bodyPr>
          <a:lstStyle/>
          <a:p>
            <a:pPr algn="ctr">
              <a:lnSpc>
                <a:spcPts val="9239"/>
              </a:lnSpc>
            </a:pPr>
            <a:r>
              <a:rPr lang="en-US" sz="6599">
                <a:solidFill>
                  <a:srgbClr val="2F4156"/>
                </a:solidFill>
                <a:latin typeface="Marykate"/>
                <a:ea typeface="Marykate"/>
                <a:cs typeface="Marykate"/>
                <a:sym typeface="Marykate"/>
              </a:rPr>
              <a:t>Conclusion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C6D8E4"/>
        </a:solidFill>
      </p:bgPr>
    </p:bg>
    <p:spTree>
      <p:nvGrpSpPr>
        <p:cNvPr id="1" name=""/>
        <p:cNvGrpSpPr/>
        <p:nvPr/>
      </p:nvGrpSpPr>
      <p:grpSpPr>
        <a:xfrm>
          <a:off x="0" y="0"/>
          <a:ext cx="0" cy="0"/>
          <a:chOff x="0" y="0"/>
          <a:chExt cx="0" cy="0"/>
        </a:xfrm>
      </p:grpSpPr>
      <p:grpSp>
        <p:nvGrpSpPr>
          <p:cNvPr name="Group 2" id="2"/>
          <p:cNvGrpSpPr/>
          <p:nvPr/>
        </p:nvGrpSpPr>
        <p:grpSpPr>
          <a:xfrm rot="0">
            <a:off x="0" y="0"/>
            <a:ext cx="20554950" cy="10287000"/>
            <a:chOff x="0" y="0"/>
            <a:chExt cx="274066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06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3803429" y="2151365"/>
            <a:ext cx="11061671" cy="5785254"/>
          </a:xfrm>
          <a:custGeom>
            <a:avLst/>
            <a:gdLst/>
            <a:ahLst/>
            <a:cxnLst/>
            <a:rect r="r" b="b" t="t" l="l"/>
            <a:pathLst>
              <a:path h="5785254" w="11061671">
                <a:moveTo>
                  <a:pt x="0" y="0"/>
                </a:moveTo>
                <a:lnTo>
                  <a:pt x="11061671" y="0"/>
                </a:lnTo>
                <a:lnTo>
                  <a:pt x="11061671" y="5785253"/>
                </a:lnTo>
                <a:lnTo>
                  <a:pt x="0" y="5785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6220535" y="3175551"/>
            <a:ext cx="6018832" cy="3816161"/>
          </a:xfrm>
          <a:prstGeom prst="rect">
            <a:avLst/>
          </a:prstGeom>
        </p:spPr>
        <p:txBody>
          <a:bodyPr anchor="t" rtlCol="false" tIns="0" lIns="0" bIns="0" rIns="0">
            <a:spAutoFit/>
          </a:bodyPr>
          <a:lstStyle/>
          <a:p>
            <a:pPr algn="ctr">
              <a:lnSpc>
                <a:spcPts val="14546"/>
              </a:lnSpc>
            </a:pPr>
            <a:r>
              <a:rPr lang="en-US" sz="15475">
                <a:solidFill>
                  <a:srgbClr val="2F4156"/>
                </a:solidFill>
                <a:latin typeface="Marykate"/>
                <a:ea typeface="Marykate"/>
                <a:cs typeface="Marykate"/>
                <a:sym typeface="Marykate"/>
              </a:rPr>
              <a:t>T</a:t>
            </a:r>
            <a:r>
              <a:rPr lang="en-US" sz="15475">
                <a:solidFill>
                  <a:srgbClr val="597C8E"/>
                </a:solidFill>
                <a:latin typeface="Marykate"/>
                <a:ea typeface="Marykate"/>
                <a:cs typeface="Marykate"/>
                <a:sym typeface="Marykate"/>
              </a:rPr>
              <a:t>H</a:t>
            </a:r>
            <a:r>
              <a:rPr lang="en-US" sz="15475">
                <a:solidFill>
                  <a:srgbClr val="446892"/>
                </a:solidFill>
                <a:latin typeface="Marykate"/>
                <a:ea typeface="Marykate"/>
                <a:cs typeface="Marykate"/>
                <a:sym typeface="Marykate"/>
              </a:rPr>
              <a:t>A</a:t>
            </a:r>
            <a:r>
              <a:rPr lang="en-US" sz="15475">
                <a:solidFill>
                  <a:srgbClr val="2F4156"/>
                </a:solidFill>
                <a:latin typeface="Marykate"/>
                <a:ea typeface="Marykate"/>
                <a:cs typeface="Marykate"/>
                <a:sym typeface="Marykate"/>
              </a:rPr>
              <a:t>N</a:t>
            </a:r>
            <a:r>
              <a:rPr lang="en-US" sz="15475">
                <a:solidFill>
                  <a:srgbClr val="597C8E"/>
                </a:solidFill>
                <a:latin typeface="Marykate"/>
                <a:ea typeface="Marykate"/>
                <a:cs typeface="Marykate"/>
                <a:sym typeface="Marykate"/>
              </a:rPr>
              <a:t>K</a:t>
            </a:r>
          </a:p>
          <a:p>
            <a:pPr algn="ctr">
              <a:lnSpc>
                <a:spcPts val="14546"/>
              </a:lnSpc>
            </a:pPr>
            <a:r>
              <a:rPr lang="en-US" sz="15475">
                <a:solidFill>
                  <a:srgbClr val="446892"/>
                </a:solidFill>
                <a:latin typeface="Marykate"/>
                <a:ea typeface="Marykate"/>
                <a:cs typeface="Marykate"/>
                <a:sym typeface="Marykate"/>
              </a:rPr>
              <a:t>Y</a:t>
            </a:r>
            <a:r>
              <a:rPr lang="en-US" sz="15475">
                <a:solidFill>
                  <a:srgbClr val="2F4156"/>
                </a:solidFill>
                <a:latin typeface="Marykate"/>
                <a:ea typeface="Marykate"/>
                <a:cs typeface="Marykate"/>
                <a:sym typeface="Marykate"/>
              </a:rPr>
              <a:t>O</a:t>
            </a:r>
            <a:r>
              <a:rPr lang="en-US" sz="15475">
                <a:solidFill>
                  <a:srgbClr val="597C8E"/>
                </a:solidFill>
                <a:latin typeface="Marykate"/>
                <a:ea typeface="Marykate"/>
                <a:cs typeface="Marykate"/>
                <a:sym typeface="Marykate"/>
              </a:rPr>
              <a:t>U</a:t>
            </a:r>
          </a:p>
        </p:txBody>
      </p:sp>
      <p:sp>
        <p:nvSpPr>
          <p:cNvPr name="Freeform 7" id="7"/>
          <p:cNvSpPr/>
          <p:nvPr/>
        </p:nvSpPr>
        <p:spPr>
          <a:xfrm flipH="false" flipV="false" rot="0">
            <a:off x="13345217" y="6039695"/>
            <a:ext cx="3680318" cy="3218605"/>
          </a:xfrm>
          <a:custGeom>
            <a:avLst/>
            <a:gdLst/>
            <a:ahLst/>
            <a:cxnLst/>
            <a:rect r="r" b="b" t="t" l="l"/>
            <a:pathLst>
              <a:path h="3218605" w="3680318">
                <a:moveTo>
                  <a:pt x="0" y="0"/>
                </a:moveTo>
                <a:lnTo>
                  <a:pt x="3680318" y="0"/>
                </a:lnTo>
                <a:lnTo>
                  <a:pt x="3680318" y="3218605"/>
                </a:lnTo>
                <a:lnTo>
                  <a:pt x="0" y="3218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8" id="8"/>
          <p:cNvSpPr/>
          <p:nvPr/>
        </p:nvSpPr>
        <p:spPr>
          <a:xfrm flipH="false" flipV="false" rot="-739691">
            <a:off x="713454" y="897041"/>
            <a:ext cx="3023891" cy="3373510"/>
          </a:xfrm>
          <a:custGeom>
            <a:avLst/>
            <a:gdLst/>
            <a:ahLst/>
            <a:cxnLst/>
            <a:rect r="r" b="b" t="t" l="l"/>
            <a:pathLst>
              <a:path h="3373510" w="3023891">
                <a:moveTo>
                  <a:pt x="0" y="0"/>
                </a:moveTo>
                <a:lnTo>
                  <a:pt x="3023892" y="0"/>
                </a:lnTo>
                <a:lnTo>
                  <a:pt x="3023892" y="3373510"/>
                </a:lnTo>
                <a:lnTo>
                  <a:pt x="0" y="337351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9" id="9"/>
          <p:cNvSpPr/>
          <p:nvPr/>
        </p:nvSpPr>
        <p:spPr>
          <a:xfrm flipH="false" flipV="false" rot="0">
            <a:off x="14397281" y="613119"/>
            <a:ext cx="3213961" cy="2939314"/>
          </a:xfrm>
          <a:custGeom>
            <a:avLst/>
            <a:gdLst/>
            <a:ahLst/>
            <a:cxnLst/>
            <a:rect r="r" b="b" t="t" l="l"/>
            <a:pathLst>
              <a:path h="2939314" w="3213961">
                <a:moveTo>
                  <a:pt x="0" y="0"/>
                </a:moveTo>
                <a:lnTo>
                  <a:pt x="3213961" y="0"/>
                </a:lnTo>
                <a:lnTo>
                  <a:pt x="3213961" y="2939314"/>
                </a:lnTo>
                <a:lnTo>
                  <a:pt x="0" y="29393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028700" y="6039695"/>
            <a:ext cx="3741533" cy="3666703"/>
          </a:xfrm>
          <a:custGeom>
            <a:avLst/>
            <a:gdLst/>
            <a:ahLst/>
            <a:cxnLst/>
            <a:rect r="r" b="b" t="t" l="l"/>
            <a:pathLst>
              <a:path h="3666703" w="3741533">
                <a:moveTo>
                  <a:pt x="0" y="0"/>
                </a:moveTo>
                <a:lnTo>
                  <a:pt x="3741533" y="0"/>
                </a:lnTo>
                <a:lnTo>
                  <a:pt x="3741533" y="3666702"/>
                </a:lnTo>
                <a:lnTo>
                  <a:pt x="0" y="366670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DAHByRL5zyw</dc:identifier>
  <dcterms:modified xsi:type="dcterms:W3CDTF">2011-08-01T06:04:30Z</dcterms:modified>
  <cp:revision>1</cp:revision>
  <dc:title>Project Presentation</dc:title>
</cp:coreProperties>
</file>