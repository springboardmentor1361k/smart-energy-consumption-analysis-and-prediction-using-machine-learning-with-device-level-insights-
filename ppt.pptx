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</p:sldIdLst>
  <p:sldSz cx="18288000" cy="10287000"/>
  <p:notesSz cx="6858000" cy="9144000"/>
  <p:embeddedFontLst>
    <p:embeddedFont>
      <p:font typeface="Trochut" panose="020B0604020202020204" charset="0"/>
      <p:regular r:id="rId15"/>
      <p:bold r:id="rId16"/>
      <p:italic r:id="rId17"/>
    </p:embeddedFont>
    <p:embeddedFont>
      <p:font typeface="Bricolage Grotesque" panose="020B0604020202020204" charset="0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Bricolage Grotesque SemiBold" panose="020B0604020202020204" charset="0"/>
      <p:regular r:id="rId23"/>
      <p:bold r:id="rId24"/>
    </p:embeddedFont>
    <p:embeddedFont>
      <p:font typeface="Times" panose="02020603050405020304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696" y="-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95020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663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261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3302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6345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8058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207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0623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3297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936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5654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1705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1169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avLst/>
            <a:gdLst/>
            <a:ahLst/>
            <a:cxnLst/>
            <a:rect l="l" t="t" r="r" b="b"/>
            <a:pathLst>
              <a:path w="18931100" h="8983668" extrusionOk="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0734675" y="785862"/>
            <a:ext cx="7553325" cy="8715276"/>
          </a:xfrm>
          <a:custGeom>
            <a:avLst/>
            <a:gdLst/>
            <a:ahLst/>
            <a:cxnLst/>
            <a:rect l="l" t="t" r="r" b="b"/>
            <a:pathLst>
              <a:path w="1202194" h="1387131" extrusionOk="0">
                <a:moveTo>
                  <a:pt x="20499" y="0"/>
                </a:moveTo>
                <a:lnTo>
                  <a:pt x="1181695" y="0"/>
                </a:lnTo>
                <a:cubicBezTo>
                  <a:pt x="1187132" y="0"/>
                  <a:pt x="1192346" y="2160"/>
                  <a:pt x="1196190" y="6004"/>
                </a:cubicBezTo>
                <a:cubicBezTo>
                  <a:pt x="1200035" y="9849"/>
                  <a:pt x="1202194" y="15063"/>
                  <a:pt x="1202194" y="20499"/>
                </a:cubicBezTo>
                <a:lnTo>
                  <a:pt x="1202194" y="1366632"/>
                </a:lnTo>
                <a:cubicBezTo>
                  <a:pt x="1202194" y="1372069"/>
                  <a:pt x="1200035" y="1377283"/>
                  <a:pt x="1196190" y="1381127"/>
                </a:cubicBezTo>
                <a:cubicBezTo>
                  <a:pt x="1192346" y="1384972"/>
                  <a:pt x="1187132" y="1387131"/>
                  <a:pt x="1181695" y="1387131"/>
                </a:cubicBezTo>
                <a:lnTo>
                  <a:pt x="20499" y="1387131"/>
                </a:lnTo>
                <a:cubicBezTo>
                  <a:pt x="9178" y="1387131"/>
                  <a:pt x="0" y="1377954"/>
                  <a:pt x="0" y="1366632"/>
                </a:cubicBezTo>
                <a:lnTo>
                  <a:pt x="0" y="20499"/>
                </a:lnTo>
                <a:cubicBezTo>
                  <a:pt x="0" y="15063"/>
                  <a:pt x="2160" y="9849"/>
                  <a:pt x="6004" y="6004"/>
                </a:cubicBezTo>
                <a:cubicBezTo>
                  <a:pt x="9849" y="2160"/>
                  <a:pt x="15063" y="0"/>
                  <a:pt x="2049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41" b="-240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5740737" y="6462606"/>
            <a:ext cx="3479615" cy="4575762"/>
            <a:chOff x="-101668" y="-68231"/>
            <a:chExt cx="4639486" cy="6101015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1"/>
          <p:cNvSpPr/>
          <p:nvPr/>
        </p:nvSpPr>
        <p:spPr>
          <a:xfrm>
            <a:off x="12768943" y="3086100"/>
            <a:ext cx="4490357" cy="4114800"/>
          </a:xfrm>
          <a:custGeom>
            <a:avLst/>
            <a:gdLst/>
            <a:ahLst/>
            <a:cxnLst/>
            <a:rect l="l" t="t" r="r" b="b"/>
            <a:pathLst>
              <a:path w="4490357" h="4114800" extrusionOk="0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4" name="Google Shape;94;p1"/>
          <p:cNvGrpSpPr/>
          <p:nvPr/>
        </p:nvGrpSpPr>
        <p:grpSpPr>
          <a:xfrm>
            <a:off x="206038" y="3141509"/>
            <a:ext cx="10766762" cy="4840829"/>
            <a:chOff x="0" y="-95250"/>
            <a:chExt cx="15750447" cy="6454440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0" y="-95250"/>
              <a:ext cx="15750447" cy="2521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28002"/>
                </a:lnSpc>
              </a:pPr>
              <a:r>
                <a:rPr lang="en-US" sz="4800" b="1" dirty="0" smtClean="0">
                  <a:solidFill>
                    <a:schemeClr val="bg1"/>
                  </a:solidFill>
                </a:rPr>
                <a:t>AI-BASED ENERGY CONSUMPTION PREDICTION &amp; ANALYTICS SYSTEM</a:t>
              </a:r>
              <a:r>
                <a:rPr lang="en-US" sz="4800" b="1" i="0" u="none" strike="noStrike" cap="none" dirty="0" smtClean="0">
                  <a:solidFill>
                    <a:schemeClr val="bg1"/>
                  </a:solidFill>
                  <a:latin typeface="Trochut"/>
                  <a:ea typeface="Trochut"/>
                  <a:cs typeface="Trochut"/>
                  <a:sym typeface="Trochut"/>
                </a:rPr>
                <a:t> </a:t>
              </a:r>
              <a:endParaRPr lang="en-US" sz="4800" b="1" dirty="0">
                <a:solidFill>
                  <a:schemeClr val="bg1"/>
                </a:solidFill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07953" y="2518137"/>
              <a:ext cx="13742123" cy="38410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29988"/>
                </a:lnSpc>
              </a:pPr>
              <a:r>
                <a:rPr lang="en-US" sz="4800" dirty="0" smtClean="0">
                  <a:solidFill>
                    <a:schemeClr val="bg1"/>
                  </a:solidFill>
                </a:rPr>
                <a:t>- Infosys </a:t>
              </a:r>
              <a:r>
                <a:rPr lang="en-US" sz="4800" dirty="0">
                  <a:solidFill>
                    <a:schemeClr val="bg1"/>
                  </a:solidFill>
                </a:rPr>
                <a:t>Internship Project</a:t>
              </a:r>
              <a:br>
                <a:rPr lang="en-US" sz="4800" dirty="0">
                  <a:solidFill>
                    <a:schemeClr val="bg1"/>
                  </a:solidFill>
                </a:rPr>
              </a:br>
              <a:r>
                <a:rPr lang="en-US" sz="4800" dirty="0" smtClean="0">
                  <a:solidFill>
                    <a:schemeClr val="bg1"/>
                  </a:solidFill>
                </a:rPr>
                <a:t>- Machine </a:t>
              </a:r>
              <a:r>
                <a:rPr lang="en-US" sz="4800" dirty="0">
                  <a:solidFill>
                    <a:schemeClr val="bg1"/>
                  </a:solidFill>
                </a:rPr>
                <a:t>Learning &amp; Web Deployment</a:t>
              </a:r>
              <a:endParaRPr sz="48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384002" y="327025"/>
            <a:ext cx="16954500" cy="2154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 smtClean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Technology </a:t>
            </a:r>
            <a:r>
              <a:rPr lang="en-US" sz="6999" b="0" i="0" u="none" strike="noStrike" cap="none" dirty="0" err="1" smtClean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Stack:System</a:t>
            </a:r>
            <a:r>
              <a:rPr lang="en-US" sz="6999" b="0" i="0" u="none" strike="noStrike" cap="none" dirty="0" smtClean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 Components Explained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574502" y="2481204"/>
            <a:ext cx="14627398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solidFill>
                  <a:schemeClr val="bg1"/>
                </a:solidFill>
              </a:rPr>
              <a:t>1.Python</a:t>
            </a:r>
            <a:r>
              <a:rPr lang="en-IN" sz="2800" b="1" dirty="0">
                <a:solidFill>
                  <a:schemeClr val="bg1"/>
                </a:solidFill>
              </a:rPr>
              <a:t>: Core Development Language</a:t>
            </a:r>
            <a:r>
              <a:rPr lang="en-IN" sz="2800" dirty="0">
                <a:solidFill>
                  <a:schemeClr val="bg1"/>
                </a:solidFill>
              </a:rPr>
              <a:t/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Used for data </a:t>
            </a:r>
            <a:r>
              <a:rPr lang="en-IN" sz="2800" dirty="0" err="1">
                <a:solidFill>
                  <a:schemeClr val="bg1"/>
                </a:solidFill>
              </a:rPr>
              <a:t>preprocessing</a:t>
            </a:r>
            <a:r>
              <a:rPr lang="en-IN" sz="2800" dirty="0">
                <a:solidFill>
                  <a:schemeClr val="bg1"/>
                </a:solidFill>
              </a:rPr>
              <a:t>, model training, and backend development</a:t>
            </a:r>
            <a:r>
              <a:rPr lang="en-IN" sz="2800" dirty="0" smtClean="0">
                <a:solidFill>
                  <a:schemeClr val="bg1"/>
                </a:solidFill>
              </a:rPr>
              <a:t>.</a:t>
            </a:r>
            <a:br>
              <a:rPr lang="en-IN" sz="2800" dirty="0" smtClean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b="1" dirty="0" smtClean="0">
                <a:solidFill>
                  <a:schemeClr val="bg1"/>
                </a:solidFill>
              </a:rPr>
              <a:t>2.Pandas </a:t>
            </a:r>
            <a:r>
              <a:rPr lang="en-IN" sz="2800" b="1" dirty="0">
                <a:solidFill>
                  <a:schemeClr val="bg1"/>
                </a:solidFill>
              </a:rPr>
              <a:t>&amp; </a:t>
            </a:r>
            <a:r>
              <a:rPr lang="en-IN" sz="2800" b="1" dirty="0" err="1">
                <a:solidFill>
                  <a:schemeClr val="bg1"/>
                </a:solidFill>
              </a:rPr>
              <a:t>NumPy</a:t>
            </a:r>
            <a:r>
              <a:rPr lang="en-IN" sz="2800" b="1" dirty="0">
                <a:solidFill>
                  <a:schemeClr val="bg1"/>
                </a:solidFill>
              </a:rPr>
              <a:t>: Data Processing</a:t>
            </a:r>
            <a:r>
              <a:rPr lang="en-IN" sz="2800" dirty="0">
                <a:solidFill>
                  <a:schemeClr val="bg1"/>
                </a:solidFill>
              </a:rPr>
              <a:t/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Handled large time-series datasets and performed aggregation &amp; transformations</a:t>
            </a:r>
            <a:r>
              <a:rPr lang="en-IN" sz="2800" dirty="0" smtClean="0">
                <a:solidFill>
                  <a:schemeClr val="bg1"/>
                </a:solidFill>
              </a:rPr>
              <a:t>.</a:t>
            </a:r>
            <a:br>
              <a:rPr lang="en-IN" sz="2800" dirty="0" smtClean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b="1" dirty="0" smtClean="0">
                <a:solidFill>
                  <a:schemeClr val="bg1"/>
                </a:solidFill>
              </a:rPr>
              <a:t>3.Scikit-learn</a:t>
            </a:r>
            <a:r>
              <a:rPr lang="en-IN" sz="2800" b="1" dirty="0">
                <a:solidFill>
                  <a:schemeClr val="bg1"/>
                </a:solidFill>
              </a:rPr>
              <a:t>: Machine Learning Engine</a:t>
            </a:r>
            <a:r>
              <a:rPr lang="en-IN" sz="2800" dirty="0">
                <a:solidFill>
                  <a:schemeClr val="bg1"/>
                </a:solidFill>
              </a:rPr>
              <a:t/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Built regression model for accurate energy prediction</a:t>
            </a:r>
            <a:r>
              <a:rPr lang="en-IN" sz="2800" dirty="0" smtClean="0">
                <a:solidFill>
                  <a:schemeClr val="bg1"/>
                </a:solidFill>
              </a:rPr>
              <a:t>.</a:t>
            </a:r>
            <a:br>
              <a:rPr lang="en-IN" sz="2800" dirty="0" smtClean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b="1" dirty="0" smtClean="0">
                <a:solidFill>
                  <a:schemeClr val="bg1"/>
                </a:solidFill>
              </a:rPr>
              <a:t>4.Matplotlib</a:t>
            </a:r>
            <a:r>
              <a:rPr lang="en-IN" sz="2800" b="1" dirty="0">
                <a:solidFill>
                  <a:schemeClr val="bg1"/>
                </a:solidFill>
              </a:rPr>
              <a:t>: Visualization Tool</a:t>
            </a:r>
            <a:r>
              <a:rPr lang="en-IN" sz="2800" dirty="0">
                <a:solidFill>
                  <a:schemeClr val="bg1"/>
                </a:solidFill>
              </a:rPr>
              <a:t/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Generated time-based energy consumption trends and device-wise charts</a:t>
            </a:r>
            <a:r>
              <a:rPr lang="en-IN" sz="2800" dirty="0" smtClean="0">
                <a:solidFill>
                  <a:schemeClr val="bg1"/>
                </a:solidFill>
              </a:rPr>
              <a:t>.</a:t>
            </a:r>
            <a:br>
              <a:rPr lang="en-IN" sz="2800" dirty="0" smtClean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b="1" dirty="0" smtClean="0">
                <a:solidFill>
                  <a:schemeClr val="bg1"/>
                </a:solidFill>
              </a:rPr>
              <a:t>5.Flask</a:t>
            </a:r>
            <a:r>
              <a:rPr lang="en-IN" sz="2800" b="1" dirty="0">
                <a:solidFill>
                  <a:schemeClr val="bg1"/>
                </a:solidFill>
              </a:rPr>
              <a:t>: Web Framework</a:t>
            </a:r>
            <a:r>
              <a:rPr lang="en-IN" sz="2800" dirty="0">
                <a:solidFill>
                  <a:schemeClr val="bg1"/>
                </a:solidFill>
              </a:rPr>
              <a:t/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Connected ML model with frontend for real-time prediction</a:t>
            </a:r>
            <a:r>
              <a:rPr lang="en-IN" sz="2800" dirty="0" smtClean="0">
                <a:solidFill>
                  <a:schemeClr val="bg1"/>
                </a:solidFill>
              </a:rPr>
              <a:t>.</a:t>
            </a:r>
            <a:br>
              <a:rPr lang="en-IN" sz="2800" dirty="0" smtClean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b="1" dirty="0" smtClean="0">
                <a:solidFill>
                  <a:schemeClr val="bg1"/>
                </a:solidFill>
              </a:rPr>
              <a:t>6.Google </a:t>
            </a:r>
            <a:r>
              <a:rPr lang="en-IN" sz="2800" b="1" dirty="0" err="1">
                <a:solidFill>
                  <a:schemeClr val="bg1"/>
                </a:solidFill>
              </a:rPr>
              <a:t>Colab</a:t>
            </a:r>
            <a:r>
              <a:rPr lang="en-IN" sz="2800" b="1" dirty="0">
                <a:solidFill>
                  <a:schemeClr val="bg1"/>
                </a:solidFill>
              </a:rPr>
              <a:t> + </a:t>
            </a:r>
            <a:r>
              <a:rPr lang="en-IN" sz="2800" b="1" dirty="0" err="1">
                <a:solidFill>
                  <a:schemeClr val="bg1"/>
                </a:solidFill>
              </a:rPr>
              <a:t>Ngrok</a:t>
            </a:r>
            <a:r>
              <a:rPr lang="en-IN" sz="2800" b="1" dirty="0">
                <a:solidFill>
                  <a:schemeClr val="bg1"/>
                </a:solidFill>
              </a:rPr>
              <a:t>: Deployment Environment</a:t>
            </a:r>
            <a:r>
              <a:rPr lang="en-IN" sz="2800" dirty="0">
                <a:solidFill>
                  <a:schemeClr val="bg1"/>
                </a:solidFill>
              </a:rPr>
              <a:t/>
            </a:r>
            <a:br>
              <a:rPr lang="en-IN" sz="2800" dirty="0">
                <a:solidFill>
                  <a:schemeClr val="bg1"/>
                </a:solidFill>
              </a:rPr>
            </a:br>
            <a:r>
              <a:rPr lang="en-IN" sz="2800" dirty="0">
                <a:solidFill>
                  <a:schemeClr val="bg1"/>
                </a:solidFill>
              </a:rPr>
              <a:t>Hosted and exposed the web application for live demonstration.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2154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 of </a:t>
            </a:r>
            <a:r>
              <a:rPr lang="en-US" sz="6999" b="1" dirty="0" smtClean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Energy Analytics Platform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666750" y="2801879"/>
            <a:ext cx="1647825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1.Real-Time </a:t>
            </a: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Energy Prediction</a:t>
            </a:r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Users can input electrical parameters and receive predicted consumption instantly</a:t>
            </a: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  <a:b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2.Time-Based </a:t>
            </a: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Consumption Analysis</a:t>
            </a:r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Hourly, daily, weekly, and monthly trends visualized for insights</a:t>
            </a: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  <a:b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3.Device-Wise </a:t>
            </a: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Energy Monitoring</a:t>
            </a:r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Sub-metering data used to identify highest energy-consuming devices</a:t>
            </a:r>
            <a: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  <a:br>
              <a:rPr lang="en-US" sz="3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US" sz="3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US" sz="36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4.Smart </a:t>
            </a: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Energy Suggestion Engine</a:t>
            </a:r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Provides intelligent recommendations to reduce consumption and improve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66750" y="800100"/>
            <a:ext cx="598770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7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Bricolage Grotesque" panose="020B0604020202020204" charset="0"/>
              </a:rPr>
              <a:t>Challenges </a:t>
            </a:r>
            <a:r>
              <a:rPr lang="en-US" sz="7200" dirty="0">
                <a:solidFill>
                  <a:schemeClr val="accent4">
                    <a:lumMod val="40000"/>
                    <a:lumOff val="60000"/>
                  </a:schemeClr>
                </a:solidFill>
                <a:latin typeface="Bricolage Grotesque" panose="020B0604020202020204" charset="0"/>
              </a:rPr>
              <a:t>in Traditional Energy Monitoring Systems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  <a:latin typeface="Bricolage Grotesque" panose="020B0604020202020204" charset="0"/>
            </a:endParaRPr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4"/>
          <p:cNvSpPr txBox="1"/>
          <p:nvPr/>
        </p:nvSpPr>
        <p:spPr>
          <a:xfrm>
            <a:off x="12981269" y="2405707"/>
            <a:ext cx="474862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No 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Intelligent Insights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Users cannot identify peak hours or high-consuming devices easily.</a:t>
            </a:r>
            <a:endParaRPr sz="2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7858117" y="2288105"/>
            <a:ext cx="4748617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Lack 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of Predictive Capabilities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Traditional systems only display historical data without forecasting future consumption.</a:t>
            </a:r>
            <a:endParaRPr sz="2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7858109" y="6764935"/>
            <a:ext cx="474862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Manual 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Analysis Required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Energy analysis requires technical expertise and manual computation.</a:t>
            </a:r>
            <a:endParaRPr sz="2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1269" y="6764935"/>
            <a:ext cx="4748625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Inefficient Optimization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No automated system to recommend energy-saving strategies.</a:t>
            </a:r>
            <a:endParaRPr sz="2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182624" y="6020717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74459" y="2126677"/>
            <a:ext cx="16339050" cy="5167110"/>
            <a:chOff x="0" y="-512625"/>
            <a:chExt cx="21785400" cy="6889483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0" y="1206209"/>
              <a:ext cx="21785400" cy="51706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The system architecture is designed for scalability and modularity:</a:t>
              </a:r>
            </a:p>
            <a:p>
              <a: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• Data Preprocessing Layer – Cleans and structures time-series dataset</a:t>
              </a:r>
              <a:b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</a:br>
              <a: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• Machine Learning Layer – Trains regression model for prediction</a:t>
              </a:r>
              <a:b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</a:br>
              <a: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• Analytics Layer – Generates aggregated time-based insights</a:t>
              </a:r>
              <a:b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</a:br>
              <a: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• API Layer – Flask connects model with frontend</a:t>
              </a:r>
              <a:b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</a:br>
              <a: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• Presentation Layer – Web interface for user interaction</a:t>
              </a:r>
            </a:p>
            <a:p>
              <a:r>
                <a:rPr lang="en-US" sz="3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This modular design allows easy updates and future scalability.</a:t>
              </a: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0" y="-512625"/>
              <a:ext cx="21785400" cy="83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4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System Architecture Overview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and Solutions in CampusEventHub</a:t>
            </a:r>
            <a:endParaRPr/>
          </a:p>
        </p:txBody>
      </p: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8392160" y="994363"/>
            <a:ext cx="7416800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1.Scalability </a:t>
            </a:r>
            <a:r>
              <a:rPr lang="en-IN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Solution</a:t>
            </a:r>
            <a: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Modular structure enables integration of additional models or </a:t>
            </a:r>
            <a:r>
              <a:rPr lang="en-IN" sz="32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IoT</a:t>
            </a:r>
            <a: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sensors</a:t>
            </a:r>
            <a:r>
              <a:rPr lang="en-IN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  <a:br>
              <a:rPr lang="en-IN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IN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IN" sz="32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2.Security </a:t>
            </a:r>
            <a:r>
              <a:rPr lang="en-IN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Consideration</a:t>
            </a:r>
            <a: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Input validation and controlled deployment via secured </a:t>
            </a:r>
            <a:r>
              <a:rPr lang="en-IN" sz="32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tunneling</a:t>
            </a:r>
            <a:r>
              <a:rPr lang="en-IN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  <a:br>
              <a:rPr lang="en-IN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IN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IN" sz="32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3.User </a:t>
            </a:r>
            <a:r>
              <a:rPr lang="en-IN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Experience Improvement</a:t>
            </a:r>
            <a: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Simple web interface for non-technical users</a:t>
            </a:r>
            <a:r>
              <a:rPr lang="en-IN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  <a:br>
              <a:rPr lang="en-IN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IN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IN" sz="3200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4.Performance </a:t>
            </a:r>
            <a:r>
              <a:rPr lang="en-IN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Optimization</a:t>
            </a:r>
            <a: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IN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Efficient data aggregation and model inference ensures quick response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Measurable Outcomes and Positive Impact</a:t>
            </a: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4450080" y="3402439"/>
            <a:ext cx="1170432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Accurate Energy Forecasting</a:t>
            </a: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High R² score demonstrates strong predictive performance</a:t>
            </a:r>
            <a: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  <a:b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US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Improved Energy Visibility</a:t>
            </a: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Users can track patterns across multiple time scales</a:t>
            </a:r>
            <a: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  <a:b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US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Actionable Insights</a:t>
            </a: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Smart suggestions help reduce energy wastage</a:t>
            </a:r>
            <a: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  <a:br>
              <a:rPr lang="en-US" sz="3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US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Practical Real-World Applicability</a:t>
            </a: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Can be extended to smart homes, industries, and smart grids.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/>
        </p:nvSpPr>
        <p:spPr>
          <a:xfrm>
            <a:off x="9296400" y="800100"/>
            <a:ext cx="6866887" cy="3231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dirty="0" smtClean="0">
                <a:solidFill>
                  <a:srgbClr val="B0AFD3"/>
                </a:solidFill>
                <a:latin typeface="Bricolage Grotesque"/>
                <a:sym typeface="Bricolage Grotesque"/>
              </a:rPr>
              <a:t>AI-Powered Energy Analysis</a:t>
            </a:r>
            <a:endParaRPr dirty="0"/>
          </a:p>
        </p:txBody>
      </p:sp>
      <p:sp>
        <p:nvSpPr>
          <p:cNvPr id="272" name="Google Shape;272;p8"/>
          <p:cNvSpPr/>
          <p:nvPr/>
        </p:nvSpPr>
        <p:spPr>
          <a:xfrm>
            <a:off x="-282408" y="-295776"/>
            <a:ext cx="8140533" cy="10878559"/>
          </a:xfrm>
          <a:custGeom>
            <a:avLst/>
            <a:gdLst/>
            <a:ahLst/>
            <a:cxnLst/>
            <a:rect l="l" t="t" r="r" b="b"/>
            <a:pathLst>
              <a:path w="1261182" h="1685373" extrusionOk="0">
                <a:moveTo>
                  <a:pt x="19021" y="0"/>
                </a:moveTo>
                <a:lnTo>
                  <a:pt x="1242161" y="0"/>
                </a:lnTo>
                <a:cubicBezTo>
                  <a:pt x="1252666" y="0"/>
                  <a:pt x="1261182" y="8516"/>
                  <a:pt x="1261182" y="19021"/>
                </a:cubicBezTo>
                <a:lnTo>
                  <a:pt x="1261182" y="1666352"/>
                </a:lnTo>
                <a:cubicBezTo>
                  <a:pt x="1261182" y="1676857"/>
                  <a:pt x="1252666" y="1685373"/>
                  <a:pt x="1242161" y="1685373"/>
                </a:cubicBezTo>
                <a:lnTo>
                  <a:pt x="19021" y="1685373"/>
                </a:lnTo>
                <a:cubicBezTo>
                  <a:pt x="13976" y="1685373"/>
                  <a:pt x="9138" y="1683369"/>
                  <a:pt x="5571" y="1679802"/>
                </a:cubicBezTo>
                <a:cubicBezTo>
                  <a:pt x="2004" y="1676235"/>
                  <a:pt x="0" y="1671396"/>
                  <a:pt x="0" y="1666352"/>
                </a:cubicBezTo>
                <a:lnTo>
                  <a:pt x="0" y="19021"/>
                </a:lnTo>
                <a:cubicBezTo>
                  <a:pt x="0" y="8516"/>
                  <a:pt x="8516" y="0"/>
                  <a:pt x="1902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90" b="-389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3" name="Google Shape;273;p8"/>
          <p:cNvGrpSpPr/>
          <p:nvPr/>
        </p:nvGrpSpPr>
        <p:grpSpPr>
          <a:xfrm rot="10800000">
            <a:off x="15557618" y="6934200"/>
            <a:ext cx="3479615" cy="4575762"/>
            <a:chOff x="-101668" y="-68231"/>
            <a:chExt cx="4639486" cy="6101015"/>
          </a:xfrm>
        </p:grpSpPr>
        <p:grpSp>
          <p:nvGrpSpPr>
            <p:cNvPr id="274" name="Google Shape;274;p8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8816273" y="4338338"/>
            <a:ext cx="9144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web application includes:</a:t>
            </a:r>
          </a:p>
          <a:p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Energy input prediction form</a:t>
            </a:r>
            <a:b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Real-time result display</a:t>
            </a:r>
            <a:b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Dashboard for consumption analytics</a:t>
            </a:r>
            <a:b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Smart suggestion display</a:t>
            </a:r>
          </a:p>
          <a:p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interface is lightweight, responsive, and user-friendly.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Enhancements for CampusEventHub</a:t>
            </a: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4836160" y="3719483"/>
            <a:ext cx="9144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</a:t>
            </a:r>
            <a:r>
              <a:rPr lang="en-US" sz="44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Real-time </a:t>
            </a:r>
            <a:r>
              <a:rPr lang="en-US" sz="4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IoT</a:t>
            </a:r>
            <a: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sensor integration</a:t>
            </a:r>
            <a:b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Cloud deployment (Azure / AWS)</a:t>
            </a:r>
            <a:b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User authentication system</a:t>
            </a:r>
            <a:b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Automated anomaly detection</a:t>
            </a:r>
            <a:b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Energy cost forecasting</a:t>
            </a:r>
            <a:b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sz="4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Mobile responsive UI</a:t>
            </a:r>
            <a:endParaRPr lang="en-IN" sz="4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2848950" y="1560600"/>
            <a:ext cx="12590100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lang="en-US" sz="92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 dirty="0"/>
          </a:p>
        </p:txBody>
      </p:sp>
      <p:sp>
        <p:nvSpPr>
          <p:cNvPr id="307" name="Google Shape;307;p11"/>
          <p:cNvSpPr txBox="1"/>
          <p:nvPr/>
        </p:nvSpPr>
        <p:spPr>
          <a:xfrm>
            <a:off x="6270972" y="4818845"/>
            <a:ext cx="5746056" cy="11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1" i="0" u="none" strike="noStrike" cap="none" dirty="0" err="1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Ananya</a:t>
            </a:r>
            <a:r>
              <a:rPr lang="en-US" sz="5199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/>
        </p:nvSpPr>
        <p:spPr>
          <a:xfrm>
            <a:off x="4028300" y="3286300"/>
            <a:ext cx="9631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 n 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avLst/>
            <a:gdLst/>
            <a:ahLst/>
            <a:cxnLst/>
            <a:rect l="l" t="t" r="r" b="b"/>
            <a:pathLst>
              <a:path w="1425021" h="1625907" extrusionOk="0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3" b="-153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8" b="0" i="0" u="none" strike="noStrike" cap="non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858" b="0" i="0" u="none" strike="noStrike" cap="none">
                <a:solidFill>
                  <a:srgbClr val="1A1F4A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</Words>
  <Application>Microsoft Office PowerPoint</Application>
  <PresentationFormat>Custom</PresentationFormat>
  <Paragraphs>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Trochut</vt:lpstr>
      <vt:lpstr>Bricolage Grotesque</vt:lpstr>
      <vt:lpstr>Calibri</vt:lpstr>
      <vt:lpstr>Bricolage Grotesque SemiBold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2</cp:revision>
  <dcterms:created xsi:type="dcterms:W3CDTF">2006-08-16T00:00:00Z</dcterms:created>
  <dcterms:modified xsi:type="dcterms:W3CDTF">2026-02-17T16:38:16Z</dcterms:modified>
</cp:coreProperties>
</file>