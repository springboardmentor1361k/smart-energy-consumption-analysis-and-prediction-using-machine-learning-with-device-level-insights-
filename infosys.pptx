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DM Sans Bold" charset="1" panose="00000000000000000000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73652"/>
            <a:ext cx="15892633" cy="351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3"/>
              </a:lnSpc>
            </a:pPr>
            <a:r>
              <a:rPr lang="en-US" b="true" sz="6672">
                <a:solidFill>
                  <a:srgbClr val="FCFCF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ENERGY CONSUMPTION ANALYSIS AND PREDICTION USING MACHINE LEARNING</a:t>
            </a:r>
          </a:p>
          <a:p>
            <a:pPr algn="ctr">
              <a:lnSpc>
                <a:spcPts val="687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682000" y="7327617"/>
            <a:ext cx="5095031" cy="155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7"/>
              </a:lnSpc>
              <a:spcBef>
                <a:spcPct val="0"/>
              </a:spcBef>
            </a:pPr>
            <a:r>
              <a:rPr lang="en-US" b="true" sz="4462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Presenting by </a:t>
            </a:r>
          </a:p>
          <a:p>
            <a:pPr algn="r">
              <a:lnSpc>
                <a:spcPts val="6247"/>
              </a:lnSpc>
              <a:spcBef>
                <a:spcPct val="0"/>
              </a:spcBef>
            </a:pPr>
            <a:r>
              <a:rPr lang="en-US" b="true" sz="4462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Harshani Talari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0573" y="617721"/>
            <a:ext cx="15984383" cy="760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sz="657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Overview</a:t>
            </a:r>
          </a:p>
          <a:p>
            <a:pPr algn="l">
              <a:lnSpc>
                <a:spcPts val="4605"/>
              </a:lnSpc>
            </a:pPr>
            <a:r>
              <a:rPr lang="en-US" sz="328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This project focuses on analyzing and forecasting device-level energy consumption using Machine Learning and Deep Learning models. The system monitors historical power usage data, identifies patterns, predicts future energy consumption, and provides an interactive web-based dashboard.</a:t>
            </a:r>
          </a:p>
          <a:p>
            <a:pPr algn="l">
              <a:lnSpc>
                <a:spcPts val="4605"/>
              </a:lnSpc>
            </a:pPr>
            <a:r>
              <a:rPr lang="en-US" sz="328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The solution integrates:</a:t>
            </a:r>
          </a:p>
          <a:p>
            <a:pPr algn="l">
              <a:lnSpc>
                <a:spcPts val="4605"/>
              </a:lnSpc>
            </a:pPr>
            <a:r>
              <a:rPr lang="en-US" sz="328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Data preprocessing pipeline</a:t>
            </a:r>
          </a:p>
          <a:p>
            <a:pPr algn="l">
              <a:lnSpc>
                <a:spcPts val="4605"/>
              </a:lnSpc>
            </a:pPr>
            <a:r>
              <a:rPr lang="en-US" sz="328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Linear Regression baseline model</a:t>
            </a:r>
          </a:p>
          <a:p>
            <a:pPr algn="l">
              <a:lnSpc>
                <a:spcPts val="4605"/>
              </a:lnSpc>
            </a:pPr>
            <a:r>
              <a:rPr lang="en-US" sz="328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LSTM deep learning model</a:t>
            </a:r>
          </a:p>
          <a:p>
            <a:pPr algn="l">
              <a:lnSpc>
                <a:spcPts val="4605"/>
              </a:lnSpc>
            </a:pPr>
            <a:r>
              <a:rPr lang="en-US" sz="328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Flask-based web application</a:t>
            </a:r>
          </a:p>
          <a:p>
            <a:pPr algn="l">
              <a:lnSpc>
                <a:spcPts val="4605"/>
              </a:lnSpc>
            </a:pPr>
            <a:r>
              <a:rPr lang="en-US" sz="328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HTML/CSS/JavaScript frontend</a:t>
            </a:r>
          </a:p>
          <a:p>
            <a:pPr algn="l">
              <a:lnSpc>
                <a:spcPts val="46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0573" y="636771"/>
            <a:ext cx="14134003" cy="523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7"/>
              </a:lnSpc>
            </a:pPr>
            <a:r>
              <a:rPr lang="en-US" sz="5305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Stack</a:t>
            </a:r>
          </a:p>
          <a:p>
            <a:pPr algn="l">
              <a:lnSpc>
                <a:spcPts val="3713"/>
              </a:lnSpc>
            </a:pPr>
            <a:r>
              <a:rPr lang="en-US" sz="2652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Python</a:t>
            </a:r>
          </a:p>
          <a:p>
            <a:pPr algn="l">
              <a:lnSpc>
                <a:spcPts val="3713"/>
              </a:lnSpc>
            </a:pPr>
            <a:r>
              <a:rPr lang="en-US" sz="2652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Pandas, NumPy</a:t>
            </a:r>
          </a:p>
          <a:p>
            <a:pPr algn="l">
              <a:lnSpc>
                <a:spcPts val="3713"/>
              </a:lnSpc>
            </a:pPr>
            <a:r>
              <a:rPr lang="en-US" sz="2652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Scikit-learn</a:t>
            </a:r>
          </a:p>
          <a:p>
            <a:pPr algn="l">
              <a:lnSpc>
                <a:spcPts val="3713"/>
              </a:lnSpc>
            </a:pPr>
            <a:r>
              <a:rPr lang="en-US" sz="2652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TensorFlow / Keras</a:t>
            </a:r>
          </a:p>
          <a:p>
            <a:pPr algn="l">
              <a:lnSpc>
                <a:spcPts val="3713"/>
              </a:lnSpc>
            </a:pPr>
            <a:r>
              <a:rPr lang="en-US" sz="2652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Flask</a:t>
            </a:r>
          </a:p>
          <a:p>
            <a:pPr algn="l">
              <a:lnSpc>
                <a:spcPts val="3713"/>
              </a:lnSpc>
            </a:pPr>
            <a:r>
              <a:rPr lang="en-US" sz="2652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HTML, CSS, JavaScript</a:t>
            </a:r>
          </a:p>
          <a:p>
            <a:pPr algn="l">
              <a:lnSpc>
                <a:spcPts val="3713"/>
              </a:lnSpc>
            </a:pPr>
            <a:r>
              <a:rPr lang="en-US" sz="2652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Matplotlib</a:t>
            </a:r>
          </a:p>
          <a:p>
            <a:pPr algn="l">
              <a:lnSpc>
                <a:spcPts val="814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20573" y="5048250"/>
            <a:ext cx="6099588" cy="4900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2"/>
              </a:lnSpc>
            </a:pPr>
            <a:r>
              <a:rPr lang="en-US" sz="5058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Workflow</a:t>
            </a:r>
          </a:p>
          <a:p>
            <a:pPr algn="l">
              <a:lnSpc>
                <a:spcPts val="3541"/>
              </a:lnSpc>
            </a:pPr>
            <a:r>
              <a:rPr lang="en-US" sz="252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1. Data Collection</a:t>
            </a:r>
          </a:p>
          <a:p>
            <a:pPr algn="l">
              <a:lnSpc>
                <a:spcPts val="3541"/>
              </a:lnSpc>
            </a:pPr>
            <a:r>
              <a:rPr lang="en-US" sz="252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2. Data Cleaning &amp; Preprocessing</a:t>
            </a:r>
          </a:p>
          <a:p>
            <a:pPr algn="l">
              <a:lnSpc>
                <a:spcPts val="3541"/>
              </a:lnSpc>
            </a:pPr>
            <a:r>
              <a:rPr lang="en-US" sz="252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3. Feature Engineering</a:t>
            </a:r>
          </a:p>
          <a:p>
            <a:pPr algn="l">
              <a:lnSpc>
                <a:spcPts val="3541"/>
              </a:lnSpc>
            </a:pPr>
            <a:r>
              <a:rPr lang="en-US" sz="252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4. Baseline Model (Linear Regression)</a:t>
            </a:r>
          </a:p>
          <a:p>
            <a:pPr algn="l">
              <a:lnSpc>
                <a:spcPts val="3541"/>
              </a:lnSpc>
            </a:pPr>
            <a:r>
              <a:rPr lang="en-US" sz="252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5. LSTM Model Development</a:t>
            </a:r>
          </a:p>
          <a:p>
            <a:pPr algn="l">
              <a:lnSpc>
                <a:spcPts val="3541"/>
              </a:lnSpc>
            </a:pPr>
            <a:r>
              <a:rPr lang="en-US" sz="252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6. Model Evaluation</a:t>
            </a:r>
          </a:p>
          <a:p>
            <a:pPr algn="l">
              <a:lnSpc>
                <a:spcPts val="3541"/>
              </a:lnSpc>
            </a:pPr>
            <a:r>
              <a:rPr lang="en-US" sz="252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7. Model Saving &amp; Integration</a:t>
            </a:r>
          </a:p>
          <a:p>
            <a:pPr algn="l">
              <a:lnSpc>
                <a:spcPts val="3541"/>
              </a:lnSpc>
            </a:pPr>
            <a:r>
              <a:rPr lang="en-US" sz="252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8. Web Application Deployment</a:t>
            </a:r>
          </a:p>
          <a:p>
            <a:pPr algn="l">
              <a:lnSpc>
                <a:spcPts val="32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447" y="492578"/>
            <a:ext cx="17132485" cy="914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4"/>
              </a:lnSpc>
            </a:pPr>
            <a:r>
              <a:rPr lang="en-US" sz="6481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Implementation (Flask)</a:t>
            </a:r>
          </a:p>
          <a:p>
            <a:pPr algn="l">
              <a:lnSpc>
                <a:spcPts val="4537"/>
              </a:lnSpc>
            </a:pPr>
            <a:r>
              <a:rPr lang="en-US" sz="324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File: app.py</a:t>
            </a:r>
          </a:p>
          <a:p>
            <a:pPr algn="l">
              <a:lnSpc>
                <a:spcPts val="9074"/>
              </a:lnSpc>
            </a:pPr>
            <a:r>
              <a:rPr lang="en-US" sz="6481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Key Functionalities:</a:t>
            </a:r>
          </a:p>
          <a:p>
            <a:pPr algn="l">
              <a:lnSpc>
                <a:spcPts val="4537"/>
              </a:lnSpc>
            </a:pPr>
            <a:r>
              <a:rPr lang="en-US" sz="324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Loads dataset (final_data.csv)</a:t>
            </a:r>
          </a:p>
          <a:p>
            <a:pPr algn="l">
              <a:lnSpc>
                <a:spcPts val="4537"/>
              </a:lnSpc>
            </a:pPr>
            <a:r>
              <a:rPr lang="en-US" sz="324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Recreates MinMaxScaler</a:t>
            </a:r>
          </a:p>
          <a:p>
            <a:pPr algn="l">
              <a:lnSpc>
                <a:spcPts val="4537"/>
              </a:lnSpc>
            </a:pPr>
            <a:r>
              <a:rPr lang="en-US" sz="324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Recreates LSTM architecture</a:t>
            </a:r>
          </a:p>
          <a:p>
            <a:pPr algn="l">
              <a:lnSpc>
                <a:spcPts val="4537"/>
              </a:lnSpc>
            </a:pPr>
            <a:r>
              <a:rPr lang="en-US" sz="324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Loads trained weights</a:t>
            </a:r>
          </a:p>
          <a:p>
            <a:pPr algn="l">
              <a:lnSpc>
                <a:spcPts val="4537"/>
              </a:lnSpc>
            </a:pPr>
            <a:r>
              <a:rPr lang="en-US" sz="324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Accepts 24 hourly values</a:t>
            </a:r>
          </a:p>
          <a:p>
            <a:pPr algn="l">
              <a:lnSpc>
                <a:spcPts val="4537"/>
              </a:lnSpc>
            </a:pPr>
            <a:r>
              <a:rPr lang="en-US" sz="324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Returns predicted energy consumption</a:t>
            </a:r>
          </a:p>
          <a:p>
            <a:pPr algn="l">
              <a:lnSpc>
                <a:spcPts val="8808"/>
              </a:lnSpc>
            </a:pPr>
            <a:r>
              <a:rPr lang="en-US" sz="6292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API Endpoints:</a:t>
            </a:r>
          </a:p>
          <a:p>
            <a:pPr algn="l">
              <a:lnSpc>
                <a:spcPts val="4537"/>
              </a:lnSpc>
            </a:pPr>
            <a:r>
              <a:rPr lang="en-US" sz="324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/ → Home page</a:t>
            </a:r>
          </a:p>
          <a:p>
            <a:pPr algn="l">
              <a:lnSpc>
                <a:spcPts val="4537"/>
              </a:lnSpc>
            </a:pPr>
            <a:r>
              <a:rPr lang="en-US" sz="324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/predict → Accepts JSON input and returns prediction</a:t>
            </a:r>
          </a:p>
          <a:p>
            <a:pPr algn="l">
              <a:lnSpc>
                <a:spcPts val="43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447" y="483053"/>
            <a:ext cx="17132485" cy="964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 Implementation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base.html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home.html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dashboard.html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prediction.html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device.html</a:t>
            </a:r>
          </a:p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Features: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Clean responsive UI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Input validation (exactly 24 values)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AJAX fetch call to Flask API</a:t>
            </a:r>
          </a:p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· Displays: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1. Prediction result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2. Error messages</a:t>
            </a:r>
          </a:p>
          <a:p>
            <a:pPr algn="l">
              <a:lnSpc>
                <a:spcPts val="90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447" y="435428"/>
            <a:ext cx="19812631" cy="875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3"/>
              </a:lnSpc>
            </a:pPr>
            <a:r>
              <a:rPr lang="en-US" sz="8838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Final Output of System</a:t>
            </a:r>
          </a:p>
          <a:p>
            <a:pPr algn="l">
              <a:lnSpc>
                <a:spcPts val="7516"/>
              </a:lnSpc>
            </a:pPr>
            <a:r>
              <a:rPr lang="en-US" sz="536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✔ Energy consumption analysis</a:t>
            </a:r>
          </a:p>
          <a:p>
            <a:pPr algn="l">
              <a:lnSpc>
                <a:spcPts val="7516"/>
              </a:lnSpc>
            </a:pPr>
            <a:r>
              <a:rPr lang="en-US" sz="536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 ✔ Time-based aggregation</a:t>
            </a:r>
          </a:p>
          <a:p>
            <a:pPr algn="l">
              <a:lnSpc>
                <a:spcPts val="7516"/>
              </a:lnSpc>
            </a:pPr>
            <a:r>
              <a:rPr lang="en-US" sz="536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 ✔ Graph visualization</a:t>
            </a:r>
          </a:p>
          <a:p>
            <a:pPr algn="l">
              <a:lnSpc>
                <a:spcPts val="7516"/>
              </a:lnSpc>
            </a:pPr>
            <a:r>
              <a:rPr lang="en-US" sz="536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 ✔ Energy prediction</a:t>
            </a:r>
          </a:p>
          <a:p>
            <a:pPr algn="l">
              <a:lnSpc>
                <a:spcPts val="7516"/>
              </a:lnSpc>
            </a:pPr>
            <a:r>
              <a:rPr lang="en-US" sz="5369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 ✔ Clean dashboard interface</a:t>
            </a:r>
          </a:p>
          <a:p>
            <a:pPr algn="l">
              <a:lnSpc>
                <a:spcPts val="9714"/>
              </a:lnSpc>
            </a:pPr>
          </a:p>
          <a:p>
            <a:pPr algn="l">
              <a:lnSpc>
                <a:spcPts val="97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02003" y="101844"/>
            <a:ext cx="18692007" cy="992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3"/>
              </a:lnSpc>
            </a:pPr>
            <a:r>
              <a:rPr lang="en-US" sz="8338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          Final Project Architecture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User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Upload CSV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Flask Server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Pandas Processing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Resampling &amp; Aggregation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Prediction Calculation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Send Data to HTML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↓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 Display Dashboard + Graph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0250" y="488040"/>
            <a:ext cx="24294795" cy="640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Results &amp; Achievements</a:t>
            </a:r>
          </a:p>
          <a:p>
            <a:pPr algn="l" marL="982151" indent="-491076" lvl="1">
              <a:lnSpc>
                <a:spcPts val="6368"/>
              </a:lnSpc>
              <a:buFont typeface="Arial"/>
              <a:buChar char="•"/>
            </a:pPr>
            <a:r>
              <a:rPr lang="en-US" sz="4549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Developed smart energy dashboard</a:t>
            </a:r>
          </a:p>
          <a:p>
            <a:pPr algn="l" marL="982151" indent="-491076" lvl="1">
              <a:lnSpc>
                <a:spcPts val="6368"/>
              </a:lnSpc>
              <a:buFont typeface="Arial"/>
              <a:buChar char="•"/>
            </a:pPr>
            <a:r>
              <a:rPr lang="en-US" sz="4549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Implemented time-based energy analysis</a:t>
            </a:r>
          </a:p>
          <a:p>
            <a:pPr algn="l" marL="982151" indent="-491076" lvl="1">
              <a:lnSpc>
                <a:spcPts val="6368"/>
              </a:lnSpc>
              <a:buFont typeface="Arial"/>
              <a:buChar char="•"/>
            </a:pPr>
            <a:r>
              <a:rPr lang="en-US" sz="4549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Integrated prediction module</a:t>
            </a:r>
          </a:p>
          <a:p>
            <a:pPr algn="l" marL="982151" indent="-491076" lvl="1">
              <a:lnSpc>
                <a:spcPts val="6368"/>
              </a:lnSpc>
              <a:buFont typeface="Arial"/>
              <a:buChar char="•"/>
            </a:pPr>
            <a:r>
              <a:rPr lang="en-US" sz="4549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Enabled CSV upload &amp; visualization</a:t>
            </a:r>
          </a:p>
          <a:p>
            <a:pPr algn="l" marL="982151" indent="-491076" lvl="1">
              <a:lnSpc>
                <a:spcPts val="6368"/>
              </a:lnSpc>
              <a:buFont typeface="Arial"/>
              <a:buChar char="•"/>
            </a:pPr>
            <a:r>
              <a:rPr lang="en-US" sz="4549">
                <a:solidFill>
                  <a:srgbClr val="FCFCFD"/>
                </a:solidFill>
                <a:latin typeface="DM Sans"/>
                <a:ea typeface="DM Sans"/>
                <a:cs typeface="DM Sans"/>
                <a:sym typeface="DM Sans"/>
              </a:rPr>
              <a:t>Built complete Flask-based web application</a:t>
            </a:r>
          </a:p>
          <a:p>
            <a:pPr algn="l">
              <a:lnSpc>
                <a:spcPts val="63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42917"/>
            <a:ext cx="11301259" cy="2330885"/>
          </a:xfrm>
          <a:custGeom>
            <a:avLst/>
            <a:gdLst/>
            <a:ahLst/>
            <a:cxnLst/>
            <a:rect r="r" b="b" t="t" l="l"/>
            <a:pathLst>
              <a:path h="2330885" w="11301259">
                <a:moveTo>
                  <a:pt x="0" y="0"/>
                </a:moveTo>
                <a:lnTo>
                  <a:pt x="11301259" y="0"/>
                </a:lnTo>
                <a:lnTo>
                  <a:pt x="11301259" y="2330885"/>
                </a:lnTo>
                <a:lnTo>
                  <a:pt x="0" y="2330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492877"/>
            <a:ext cx="10842317" cy="5150101"/>
          </a:xfrm>
          <a:custGeom>
            <a:avLst/>
            <a:gdLst/>
            <a:ahLst/>
            <a:cxnLst/>
            <a:rect r="r" b="b" t="t" l="l"/>
            <a:pathLst>
              <a:path h="5150101" w="10842317">
                <a:moveTo>
                  <a:pt x="0" y="0"/>
                </a:moveTo>
                <a:lnTo>
                  <a:pt x="10842317" y="0"/>
                </a:lnTo>
                <a:lnTo>
                  <a:pt x="10842317" y="5150100"/>
                </a:lnTo>
                <a:lnTo>
                  <a:pt x="0" y="5150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0250" y="526140"/>
            <a:ext cx="2429479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User Interface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40602" y="3168174"/>
            <a:ext cx="24294795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0"/>
              </a:lnSpc>
              <a:spcBef>
                <a:spcPct val="0"/>
              </a:spcBef>
            </a:pPr>
            <a:r>
              <a:rPr lang="en-US" b="true" sz="15000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Q &amp; 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" t="0" r="-11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46201" y="3048543"/>
            <a:ext cx="24294795" cy="342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0"/>
              </a:lnSpc>
              <a:spcBef>
                <a:spcPct val="0"/>
              </a:spcBef>
            </a:pPr>
            <a:r>
              <a:rPr lang="en-US" b="true" sz="20000">
                <a:solidFill>
                  <a:srgbClr val="FCFCFD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DAHBsRtwLIo</dc:identifier>
  <dcterms:modified xsi:type="dcterms:W3CDTF">2011-08-01T06:04:30Z</dcterms:modified>
  <cp:revision>1</cp:revision>
  <dc:title>Dark Blue and White Bold Modern Universe Presentation</dc:title>
</cp:coreProperties>
</file>